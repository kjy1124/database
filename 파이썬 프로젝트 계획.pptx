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25"/>
    <p:restoredTop sz="94626"/>
  </p:normalViewPr>
  <p:slideViewPr>
    <p:cSldViewPr snapToGrid="0" snapToObjects="1">
      <p:cViewPr>
        <p:scale>
          <a:sx n="120" d="100"/>
          <a:sy n="120" d="100"/>
        </p:scale>
        <p:origin x="3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준영" userId="7fb594cc-9f9a-49c9-9b13-1445daf4ac1b" providerId="ADAL" clId="{6FC82A1D-0B4B-5920-AD7E-9A32695B4321}"/>
    <pc:docChg chg="undo custSel addSld delSld modSld">
      <pc:chgData name="김준영" userId="7fb594cc-9f9a-49c9-9b13-1445daf4ac1b" providerId="ADAL" clId="{6FC82A1D-0B4B-5920-AD7E-9A32695B4321}" dt="2025-11-02T10:27:47.634" v="333" actId="20577"/>
      <pc:docMkLst>
        <pc:docMk/>
      </pc:docMkLst>
      <pc:sldChg chg="modSp mod">
        <pc:chgData name="김준영" userId="7fb594cc-9f9a-49c9-9b13-1445daf4ac1b" providerId="ADAL" clId="{6FC82A1D-0B4B-5920-AD7E-9A32695B4321}" dt="2025-11-02T10:25:20.170" v="14" actId="1076"/>
        <pc:sldMkLst>
          <pc:docMk/>
          <pc:sldMk cId="0" sldId="260"/>
        </pc:sldMkLst>
        <pc:picChg chg="mod">
          <ac:chgData name="김준영" userId="7fb594cc-9f9a-49c9-9b13-1445daf4ac1b" providerId="ADAL" clId="{6FC82A1D-0B4B-5920-AD7E-9A32695B4321}" dt="2025-11-02T10:25:20.170" v="14" actId="1076"/>
          <ac:picMkLst>
            <pc:docMk/>
            <pc:sldMk cId="0" sldId="260"/>
            <ac:picMk id="2" creationId="{00000000-0000-0000-0000-000000000000}"/>
          </ac:picMkLst>
        </pc:picChg>
        <pc:picChg chg="mod">
          <ac:chgData name="김준영" userId="7fb594cc-9f9a-49c9-9b13-1445daf4ac1b" providerId="ADAL" clId="{6FC82A1D-0B4B-5920-AD7E-9A32695B4321}" dt="2025-11-02T10:25:13.352" v="13" actId="1076"/>
          <ac:picMkLst>
            <pc:docMk/>
            <pc:sldMk cId="0" sldId="260"/>
            <ac:picMk id="9" creationId="{00000000-0000-0000-0000-000000000000}"/>
          </ac:picMkLst>
        </pc:picChg>
      </pc:sldChg>
      <pc:sldChg chg="modSp mod">
        <pc:chgData name="김준영" userId="7fb594cc-9f9a-49c9-9b13-1445daf4ac1b" providerId="ADAL" clId="{6FC82A1D-0B4B-5920-AD7E-9A32695B4321}" dt="2025-11-02T10:27:47.634" v="333" actId="20577"/>
        <pc:sldMkLst>
          <pc:docMk/>
          <pc:sldMk cId="0" sldId="263"/>
        </pc:sldMkLst>
        <pc:spChg chg="mod">
          <ac:chgData name="김준영" userId="7fb594cc-9f9a-49c9-9b13-1445daf4ac1b" providerId="ADAL" clId="{6FC82A1D-0B4B-5920-AD7E-9A32695B4321}" dt="2025-11-02T10:27:47.634" v="333" actId="20577"/>
          <ac:spMkLst>
            <pc:docMk/>
            <pc:sldMk cId="0" sldId="263"/>
            <ac:spMk id="33" creationId="{5CF5AB67-C236-150C-7847-88A426DBCE47}"/>
          </ac:spMkLst>
        </pc:spChg>
        <pc:picChg chg="mod">
          <ac:chgData name="김준영" userId="7fb594cc-9f9a-49c9-9b13-1445daf4ac1b" providerId="ADAL" clId="{6FC82A1D-0B4B-5920-AD7E-9A32695B4321}" dt="2025-11-02T10:25:09.586" v="12" actId="1076"/>
          <ac:picMkLst>
            <pc:docMk/>
            <pc:sldMk cId="0" sldId="263"/>
            <ac:picMk id="2" creationId="{00000000-0000-0000-0000-000000000000}"/>
          </ac:picMkLst>
        </pc:picChg>
      </pc:sldChg>
      <pc:sldChg chg="new del">
        <pc:chgData name="김준영" userId="7fb594cc-9f9a-49c9-9b13-1445daf4ac1b" providerId="ADAL" clId="{6FC82A1D-0B4B-5920-AD7E-9A32695B4321}" dt="2025-11-02T10:23:58.310" v="4" actId="680"/>
        <pc:sldMkLst>
          <pc:docMk/>
          <pc:sldMk cId="2790185561" sldId="264"/>
        </pc:sldMkLst>
      </pc:sldChg>
      <pc:sldChg chg="new del">
        <pc:chgData name="김준영" userId="7fb594cc-9f9a-49c9-9b13-1445daf4ac1b" providerId="ADAL" clId="{6FC82A1D-0B4B-5920-AD7E-9A32695B4321}" dt="2025-11-02T10:24:02.262" v="8" actId="680"/>
        <pc:sldMkLst>
          <pc:docMk/>
          <pc:sldMk cId="3089645552" sldId="264"/>
        </pc:sldMkLst>
      </pc:sldChg>
      <pc:sldChg chg="new del">
        <pc:chgData name="김준영" userId="7fb594cc-9f9a-49c9-9b13-1445daf4ac1b" providerId="ADAL" clId="{6FC82A1D-0B4B-5920-AD7E-9A32695B4321}" dt="2025-11-02T10:24:01.867" v="7" actId="680"/>
        <pc:sldMkLst>
          <pc:docMk/>
          <pc:sldMk cId="953368917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89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7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45.png"/><Relationship Id="rId5" Type="http://schemas.openxmlformats.org/officeDocument/2006/relationships/image" Target="../media/image7.png"/><Relationship Id="rId10" Type="http://schemas.openxmlformats.org/officeDocument/2006/relationships/image" Target="../media/image44.png"/><Relationship Id="rId4" Type="http://schemas.openxmlformats.org/officeDocument/2006/relationships/image" Target="../media/image6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1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5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53.png"/><Relationship Id="rId24" Type="http://schemas.openxmlformats.org/officeDocument/2006/relationships/image" Target="../media/image66.png"/><Relationship Id="rId5" Type="http://schemas.openxmlformats.org/officeDocument/2006/relationships/image" Target="../media/image7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8.png"/><Relationship Id="rId3" Type="http://schemas.openxmlformats.org/officeDocument/2006/relationships/image" Target="../media/image1.png"/><Relationship Id="rId21" Type="http://schemas.openxmlformats.org/officeDocument/2006/relationships/image" Target="../media/image81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72.png"/><Relationship Id="rId5" Type="http://schemas.openxmlformats.org/officeDocument/2006/relationships/image" Target="../media/image7.png"/><Relationship Id="rId15" Type="http://schemas.openxmlformats.org/officeDocument/2006/relationships/image" Target="../media/image75.png"/><Relationship Id="rId10" Type="http://schemas.openxmlformats.org/officeDocument/2006/relationships/image" Target="../media/image71.png"/><Relationship Id="rId19" Type="http://schemas.openxmlformats.org/officeDocument/2006/relationships/image" Target="../media/image79.png"/><Relationship Id="rId4" Type="http://schemas.openxmlformats.org/officeDocument/2006/relationships/image" Target="../media/image6.png"/><Relationship Id="rId9" Type="http://schemas.openxmlformats.org/officeDocument/2006/relationships/image" Target="../media/image70.pn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26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86.png"/><Relationship Id="rId24" Type="http://schemas.openxmlformats.org/officeDocument/2006/relationships/image" Target="../media/image99.png"/><Relationship Id="rId5" Type="http://schemas.openxmlformats.org/officeDocument/2006/relationships/image" Target="../media/image7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6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1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05.png"/><Relationship Id="rId5" Type="http://schemas.openxmlformats.org/officeDocument/2006/relationships/image" Target="../media/image7.png"/><Relationship Id="rId10" Type="http://schemas.openxmlformats.org/officeDocument/2006/relationships/image" Target="../media/image104.png"/><Relationship Id="rId4" Type="http://schemas.openxmlformats.org/officeDocument/2006/relationships/image" Target="../media/image6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0"/>
            <a:ext cx="3810000" cy="333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76750"/>
            <a:ext cx="238125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952500"/>
            <a:ext cx="1905000" cy="1905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351" y="3162300"/>
            <a:ext cx="1143000" cy="381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358950" y="2095500"/>
            <a:ext cx="94739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13" name="Text 1"/>
          <p:cNvSpPr/>
          <p:nvPr/>
        </p:nvSpPr>
        <p:spPr>
          <a:xfrm>
            <a:off x="411554" y="1210615"/>
            <a:ext cx="11368742" cy="3747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r>
              <a:rPr lang="en-US" altLang="ko-KR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20220311</a:t>
            </a:r>
            <a:r>
              <a:rPr lang="ko-KR" alt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인공지능학과 김준영</a:t>
            </a: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r>
              <a:rPr lang="en-US" altLang="ko-KR" sz="3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</a:t>
            </a:r>
            <a:r>
              <a:rPr lang="en-US" altLang="ko-KR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altLang="ko-KR" sz="3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맞춤형</a:t>
            </a:r>
            <a:r>
              <a:rPr lang="en-US" altLang="ko-KR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altLang="ko-KR" sz="3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영양제</a:t>
            </a:r>
            <a:r>
              <a:rPr lang="en-US" altLang="ko-KR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altLang="ko-KR" sz="3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추천</a:t>
            </a:r>
            <a:r>
              <a:rPr lang="en-US" altLang="ko-KR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altLang="ko-KR" sz="3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서비스</a:t>
            </a: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14" name="Text 2"/>
          <p:cNvSpPr/>
          <p:nvPr/>
        </p:nvSpPr>
        <p:spPr>
          <a:xfrm>
            <a:off x="423911" y="3390900"/>
            <a:ext cx="113687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16" name="Text 4"/>
          <p:cNvSpPr/>
          <p:nvPr/>
        </p:nvSpPr>
        <p:spPr>
          <a:xfrm>
            <a:off x="838200" y="6248400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10278517" y="6248400"/>
            <a:ext cx="156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642" y="1047752"/>
            <a:ext cx="5524500" cy="42195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476375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15621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181225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600325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019425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629025"/>
            <a:ext cx="50673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3950326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3792" y="1041955"/>
            <a:ext cx="5524500" cy="410379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476375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2725" y="15621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181225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600325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019425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629025"/>
            <a:ext cx="5067300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3933825"/>
            <a:ext cx="1905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시장 문제와 해결 방안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1314450" y="1562100"/>
            <a:ext cx="11735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문제 정의</a:t>
            </a:r>
            <a:endParaRPr lang="en-US" sz="2000" dirty="0"/>
          </a:p>
        </p:txBody>
      </p:sp>
      <p:sp>
        <p:nvSpPr>
          <p:cNvPr id="24" name="Text 2"/>
          <p:cNvSpPr/>
          <p:nvPr/>
        </p:nvSpPr>
        <p:spPr>
          <a:xfrm>
            <a:off x="914400" y="2105025"/>
            <a:ext cx="48693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사용자는 자신의 신체 상태를 정확히 판단하기 어려움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914400" y="2524125"/>
            <a:ext cx="37263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특정 증상과 질병을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연결짓기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어려운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경우가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많음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914400" y="2943225"/>
            <a:ext cx="4838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예: ”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심장이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쿵쾅거림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가끔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눈앞이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멍해짐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감각이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이상함</a:t>
            </a:r>
            <a:r>
              <a:rPr lang="en-US" altLang="ko-KR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”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같은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모호한 증상들을 스스로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진단하기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어려움</a:t>
            </a:r>
            <a:r>
              <a:rPr lang="en-US" altLang="ko-KR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952500" y="3857625"/>
            <a:ext cx="4533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사용자는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병원에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가지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않는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이상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자신의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건강 상태를 정확히 파악하지 못하여 적절한 영양 보충제를 선택하기 어려움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7067550" y="1562100"/>
            <a:ext cx="11735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해결 방안</a:t>
            </a:r>
            <a:endParaRPr lang="en-US" sz="1800" dirty="0"/>
          </a:p>
        </p:txBody>
      </p:sp>
      <p:sp>
        <p:nvSpPr>
          <p:cNvPr id="29" name="Text 7"/>
          <p:cNvSpPr/>
          <p:nvPr/>
        </p:nvSpPr>
        <p:spPr>
          <a:xfrm>
            <a:off x="6667500" y="2105025"/>
            <a:ext cx="39092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LLM을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활용한 대안 제시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6667500" y="2524125"/>
            <a:ext cx="38978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병원 방문 대신 사용할 수 있는 솔루션 제공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6667500" y="2943225"/>
            <a:ext cx="42521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사용자의 증상에 맞춘 적절한 영양 보충제 추천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6896100" y="3781425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LLM를 이용하여 사용자의 모호한 증상 분석하고, 전문적인 영양 보충제 추천 서비스 제공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8</a:t>
            </a:r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4042AF-4577-472F-DAAC-9EBF185AA6C4}"/>
              </a:ext>
            </a:extLst>
          </p:cNvPr>
          <p:cNvSpPr txBox="1"/>
          <p:nvPr/>
        </p:nvSpPr>
        <p:spPr>
          <a:xfrm>
            <a:off x="650548" y="4252436"/>
            <a:ext cx="4254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ko-KR" dirty="0">
              <a:solidFill>
                <a:schemeClr val="bg1"/>
              </a:solidFill>
            </a:endParaRPr>
          </a:p>
          <a:p>
            <a:r>
              <a:rPr kumimoji="1" lang="en-US" altLang="ko-KR" dirty="0">
                <a:solidFill>
                  <a:schemeClr val="bg1"/>
                </a:solidFill>
              </a:rPr>
              <a:t>++</a:t>
            </a:r>
          </a:p>
          <a:p>
            <a:r>
              <a:rPr kumimoji="1" lang="ko-KR" altLang="en-US" dirty="0">
                <a:solidFill>
                  <a:schemeClr val="bg1"/>
                </a:solidFill>
              </a:rPr>
              <a:t>환자가 본인의 증상을 무엇인지 알고 거기에 필요한 약이나 영양제를 검색해도 나오는 양이 너무 방대함</a:t>
            </a:r>
            <a:r>
              <a:rPr kumimoji="1" lang="en-US" altLang="ko-KR" dirty="0">
                <a:solidFill>
                  <a:schemeClr val="bg1"/>
                </a:solidFill>
              </a:rPr>
              <a:t>. </a:t>
            </a:r>
            <a:r>
              <a:rPr kumimoji="1" lang="ko-KR" altLang="en-US" dirty="0">
                <a:solidFill>
                  <a:schemeClr val="bg1"/>
                </a:solidFill>
              </a:rPr>
              <a:t>사용자는 이 약이 어떤  증상에 효과가 있는지</a:t>
            </a:r>
            <a:r>
              <a:rPr kumimoji="1" lang="en-US" altLang="ko-KR" dirty="0">
                <a:solidFill>
                  <a:schemeClr val="bg1"/>
                </a:solidFill>
              </a:rPr>
              <a:t>. </a:t>
            </a:r>
            <a:r>
              <a:rPr kumimoji="1" lang="ko-KR" altLang="en-US" dirty="0">
                <a:solidFill>
                  <a:schemeClr val="bg1"/>
                </a:solidFill>
              </a:rPr>
              <a:t>즉 효능만 궁금해 하는 경우가 대다수임</a:t>
            </a:r>
            <a:r>
              <a:rPr kumimoji="1" lang="en-US" altLang="ko-KR" dirty="0">
                <a:solidFill>
                  <a:schemeClr val="bg1"/>
                </a:solidFill>
              </a:rPr>
              <a:t>.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281D53-7833-B549-B912-EA063E010799}"/>
              </a:ext>
            </a:extLst>
          </p:cNvPr>
          <p:cNvSpPr txBox="1"/>
          <p:nvPr/>
        </p:nvSpPr>
        <p:spPr>
          <a:xfrm>
            <a:off x="6438900" y="4588450"/>
            <a:ext cx="5067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</a:rPr>
              <a:t>++</a:t>
            </a:r>
          </a:p>
          <a:p>
            <a:r>
              <a:rPr kumimoji="1" lang="ko-KR" altLang="en-US" dirty="0">
                <a:solidFill>
                  <a:schemeClr val="bg1"/>
                </a:solidFill>
              </a:rPr>
              <a:t>이 약이 어떤 증상에 효능이 있는 지와</a:t>
            </a:r>
            <a:r>
              <a:rPr kumimoji="1" lang="en-US" altLang="ko-KR" dirty="0">
                <a:solidFill>
                  <a:schemeClr val="bg1"/>
                </a:solidFill>
              </a:rPr>
              <a:t> </a:t>
            </a:r>
            <a:r>
              <a:rPr kumimoji="1" lang="ko-KR" altLang="en-US" dirty="0">
                <a:solidFill>
                  <a:schemeClr val="bg1"/>
                </a:solidFill>
              </a:rPr>
              <a:t> 함께 복용하지 </a:t>
            </a:r>
            <a:r>
              <a:rPr kumimoji="1" lang="ko-KR" altLang="en-US" dirty="0" err="1">
                <a:solidFill>
                  <a:schemeClr val="bg1"/>
                </a:solidFill>
              </a:rPr>
              <a:t>말아야할</a:t>
            </a:r>
            <a:r>
              <a:rPr kumimoji="1" lang="ko-KR" altLang="en-US" dirty="0">
                <a:solidFill>
                  <a:schemeClr val="bg1"/>
                </a:solidFill>
              </a:rPr>
              <a:t> 영양제들이 </a:t>
            </a:r>
            <a:r>
              <a:rPr kumimoji="1" lang="ko-KR" altLang="en-US" dirty="0" err="1">
                <a:solidFill>
                  <a:schemeClr val="bg1"/>
                </a:solidFill>
              </a:rPr>
              <a:t>뭔지</a:t>
            </a:r>
            <a:r>
              <a:rPr kumimoji="1" lang="ko-KR" altLang="en-US" dirty="0">
                <a:solidFill>
                  <a:schemeClr val="bg1"/>
                </a:solidFill>
              </a:rPr>
              <a:t> 알려줌</a:t>
            </a:r>
            <a:endParaRPr kumimoji="1" lang="en-US" altLang="ko-KR" dirty="0">
              <a:solidFill>
                <a:schemeClr val="bg1"/>
              </a:solidFill>
            </a:endParaRPr>
          </a:p>
          <a:p>
            <a:r>
              <a:rPr kumimoji="1" lang="ko-KR" altLang="en-US" dirty="0">
                <a:solidFill>
                  <a:schemeClr val="bg1"/>
                </a:solidFill>
              </a:rPr>
              <a:t>즉 안전성까지 고려해서 영양제를 추천해줌</a:t>
            </a:r>
            <a:endParaRPr kumimoji="1"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323975"/>
            <a:ext cx="2438400" cy="2362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0650" y="1514475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4475" y="1628775"/>
            <a:ext cx="3238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61937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3076575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3550" y="1323975"/>
            <a:ext cx="2438400" cy="2362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7000" y="1514475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8925" y="1628775"/>
            <a:ext cx="2476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4785" y="2619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4785" y="288607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9901" y="1323975"/>
            <a:ext cx="2438400" cy="2362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3351" y="1514475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6226" y="1628775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0401" y="2619375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0401" y="2886075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0401" y="3343275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251" y="1323975"/>
            <a:ext cx="2438400" cy="2362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29701" y="1514475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05914" y="1628775"/>
            <a:ext cx="219075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86751" y="2619375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86751" y="3076575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47900" y="4067175"/>
            <a:ext cx="2438400" cy="2857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76800" y="4067175"/>
            <a:ext cx="2438400" cy="28575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05700" y="4067175"/>
            <a:ext cx="2438400" cy="2857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38400" y="4476750"/>
            <a:ext cx="7315200" cy="571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90800" y="4629150"/>
            <a:ext cx="190500" cy="2667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동작</a:t>
            </a: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과정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571277" y="2238375"/>
            <a:ext cx="22100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사용자 데이터 입력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857250" y="2581275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방식으로 증상, 생활습관 등 비구조화된 데이터 입력</a:t>
            </a:r>
            <a:endParaRPr lang="en-US" sz="1050" dirty="0"/>
          </a:p>
        </p:txBody>
      </p:sp>
      <p:sp>
        <p:nvSpPr>
          <p:cNvPr id="35" name="Text 3"/>
          <p:cNvSpPr/>
          <p:nvPr/>
        </p:nvSpPr>
        <p:spPr>
          <a:xfrm>
            <a:off x="857250" y="3038475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구조화된 데이터 </a:t>
            </a:r>
            <a:r>
              <a:rPr lang="en-US" sz="10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또한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지원</a:t>
            </a:r>
            <a:endParaRPr lang="en-US" sz="1050" dirty="0"/>
          </a:p>
        </p:txBody>
      </p:sp>
      <p:sp>
        <p:nvSpPr>
          <p:cNvPr id="36" name="Text 4"/>
          <p:cNvSpPr/>
          <p:nvPr/>
        </p:nvSpPr>
        <p:spPr>
          <a:xfrm>
            <a:off x="3486001" y="2238375"/>
            <a:ext cx="22734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데이터 수집 및 통합</a:t>
            </a:r>
            <a:endParaRPr lang="en-US" sz="1500" dirty="0"/>
          </a:p>
        </p:txBody>
      </p:sp>
      <p:sp>
        <p:nvSpPr>
          <p:cNvPr id="37" name="Text 5"/>
          <p:cNvSpPr/>
          <p:nvPr/>
        </p:nvSpPr>
        <p:spPr>
          <a:xfrm>
            <a:off x="3964335" y="2581275"/>
            <a:ext cx="18314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심평원과 식약처 API 연동</a:t>
            </a:r>
            <a:endParaRPr lang="en-US" sz="1050" dirty="0"/>
          </a:p>
        </p:txBody>
      </p:sp>
      <p:sp>
        <p:nvSpPr>
          <p:cNvPr id="38" name="Text 6"/>
          <p:cNvSpPr/>
          <p:nvPr/>
        </p:nvSpPr>
        <p:spPr>
          <a:xfrm>
            <a:off x="3964335" y="2847975"/>
            <a:ext cx="1733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정확한 성분 데이터 취득</a:t>
            </a:r>
            <a:endParaRPr lang="en-US" sz="1050" dirty="0"/>
          </a:p>
        </p:txBody>
      </p:sp>
      <p:sp>
        <p:nvSpPr>
          <p:cNvPr id="39" name="Text 7"/>
          <p:cNvSpPr/>
          <p:nvPr/>
        </p:nvSpPr>
        <p:spPr>
          <a:xfrm>
            <a:off x="6463978" y="2238375"/>
            <a:ext cx="22100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증상과 영양소 분석</a:t>
            </a:r>
            <a:endParaRPr lang="en-US" sz="1500" dirty="0"/>
          </a:p>
        </p:txBody>
      </p:sp>
      <p:sp>
        <p:nvSpPr>
          <p:cNvPr id="40" name="Text 8"/>
          <p:cNvSpPr/>
          <p:nvPr/>
        </p:nvSpPr>
        <p:spPr>
          <a:xfrm>
            <a:off x="6749951" y="2581275"/>
            <a:ext cx="12180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증상-영양소 매핑</a:t>
            </a:r>
            <a:endParaRPr lang="en-US" sz="1050" dirty="0"/>
          </a:p>
        </p:txBody>
      </p:sp>
      <p:sp>
        <p:nvSpPr>
          <p:cNvPr id="41" name="Text 9"/>
          <p:cNvSpPr/>
          <p:nvPr/>
        </p:nvSpPr>
        <p:spPr>
          <a:xfrm>
            <a:off x="6749951" y="2847975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증상+나이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분석을 통한 영양소 우선순위 설정</a:t>
            </a:r>
            <a:endParaRPr lang="en-US" sz="1050" dirty="0"/>
          </a:p>
        </p:txBody>
      </p:sp>
      <p:sp>
        <p:nvSpPr>
          <p:cNvPr id="42" name="Text 10"/>
          <p:cNvSpPr/>
          <p:nvPr/>
        </p:nvSpPr>
        <p:spPr>
          <a:xfrm>
            <a:off x="6749951" y="3305175"/>
            <a:ext cx="1369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위험 영양소 필터링</a:t>
            </a:r>
            <a:endParaRPr lang="en-US" sz="1050" dirty="0"/>
          </a:p>
        </p:txBody>
      </p:sp>
      <p:sp>
        <p:nvSpPr>
          <p:cNvPr id="43" name="Text 11"/>
          <p:cNvSpPr/>
          <p:nvPr/>
        </p:nvSpPr>
        <p:spPr>
          <a:xfrm>
            <a:off x="9493002" y="2238375"/>
            <a:ext cx="20448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결과 요약 및 추천</a:t>
            </a:r>
            <a:endParaRPr lang="en-US" sz="1500" dirty="0"/>
          </a:p>
        </p:txBody>
      </p:sp>
      <p:sp>
        <p:nvSpPr>
          <p:cNvPr id="44" name="Text 12"/>
          <p:cNvSpPr/>
          <p:nvPr/>
        </p:nvSpPr>
        <p:spPr>
          <a:xfrm>
            <a:off x="9696301" y="2581275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분석 결과 요약 및 추천 영양소 제공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9696301" y="3038475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효능, 보안 경고, 복용 방법 상세 안내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2895600" y="4648200"/>
            <a:ext cx="75491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LLM를 활용하여 사용자의 증상을 분석하고, 전문적인 영양 보충제 추천 서비스를 제공합니다.</a:t>
            </a:r>
            <a:endParaRPr lang="en-US" sz="1200" dirty="0"/>
          </a:p>
        </p:txBody>
      </p:sp>
      <p:sp>
        <p:nvSpPr>
          <p:cNvPr id="47" name="Text 15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8</a:t>
            </a:r>
            <a:endParaRPr lang="en-US" sz="105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F6336D-4966-BA65-82E6-B756FAB8290A}"/>
              </a:ext>
            </a:extLst>
          </p:cNvPr>
          <p:cNvSpPr txBox="1"/>
          <p:nvPr/>
        </p:nvSpPr>
        <p:spPr>
          <a:xfrm>
            <a:off x="2631407" y="5162282"/>
            <a:ext cx="7122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요약하자면</a:t>
            </a:r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</a:p>
          <a:p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LLM</a:t>
            </a:r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에다가 추가로 </a:t>
            </a:r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RAG(</a:t>
            </a:r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검색 증강 생성</a:t>
            </a:r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r>
              <a:rPr kumimoji="1" lang="ko-KR" altLang="en-US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를</a:t>
            </a:r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통해 더 전문적인 지식을 가져오고 심평원과 </a:t>
            </a:r>
            <a:r>
              <a:rPr kumimoji="1" lang="ko-KR" altLang="en-US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식약처</a:t>
            </a:r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는 영양제 복용 과정에서 어떤 것을 피해야 하는지 알려주는 역할을 해줍니다</a:t>
            </a:r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247775"/>
            <a:ext cx="5524500" cy="457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476375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1590675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238375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619375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076575"/>
            <a:ext cx="5067300" cy="2514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3276600"/>
            <a:ext cx="123825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3609975"/>
            <a:ext cx="3810000" cy="914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0700" y="4638675"/>
            <a:ext cx="3810000" cy="6858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 데이터 입력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1409700" y="1609725"/>
            <a:ext cx="262139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비구조화 데이터 입력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971550" y="2200275"/>
            <a:ext cx="56580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사용자는 대화 방식으로 증상, 생활 습관 등을 자연스럽게 입력</a:t>
            </a:r>
            <a:endParaRPr lang="en-US" sz="1350" dirty="0"/>
          </a:p>
        </p:txBody>
      </p:sp>
      <p:sp>
        <p:nvSpPr>
          <p:cNvPr id="33" name="Text 3"/>
          <p:cNvSpPr/>
          <p:nvPr/>
        </p:nvSpPr>
        <p:spPr>
          <a:xfrm>
            <a:off x="971550" y="2581275"/>
            <a:ext cx="45150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모호한 증상 표현도 자연어 처리 기술로 분석 가능</a:t>
            </a:r>
            <a:endParaRPr lang="en-US" sz="1350" dirty="0"/>
          </a:p>
        </p:txBody>
      </p:sp>
      <p:sp>
        <p:nvSpPr>
          <p:cNvPr id="34" name="Text 4"/>
          <p:cNvSpPr/>
          <p:nvPr/>
        </p:nvSpPr>
        <p:spPr>
          <a:xfrm>
            <a:off x="1038225" y="3228975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9D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대화 예시</a:t>
            </a:r>
            <a:endParaRPr lang="en-US" sz="1350" dirty="0"/>
          </a:p>
        </p:txBody>
      </p:sp>
      <p:sp>
        <p:nvSpPr>
          <p:cNvPr id="35" name="Text 5"/>
          <p:cNvSpPr/>
          <p:nvPr/>
        </p:nvSpPr>
        <p:spPr>
          <a:xfrm>
            <a:off x="1009650" y="3724275"/>
            <a:ext cx="3467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최근에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갑자기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무릎이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아프기도고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수면의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질이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좋지않아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계속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피로해요</a:t>
            </a:r>
            <a:r>
              <a:rPr lang="en-US" altLang="ko-KR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ko-KR" alt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또 소화불량도 있는 거 같아요</a:t>
            </a:r>
            <a:r>
              <a:rPr lang="en-US" altLang="ko-KR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.”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1962150" y="4752975"/>
            <a:ext cx="3467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좋습니다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사용자님의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증상에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알맞은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영양제와</a:t>
            </a:r>
            <a:endParaRPr lang="en-US" sz="1200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함께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복용하면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되는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영양제를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알려드릴게요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7162800" y="1609725"/>
            <a:ext cx="234707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38" name="Text 8"/>
          <p:cNvSpPr/>
          <p:nvPr/>
        </p:nvSpPr>
        <p:spPr>
          <a:xfrm>
            <a:off x="6724650" y="2200275"/>
            <a:ext cx="46293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39" name="Text 9"/>
          <p:cNvSpPr/>
          <p:nvPr/>
        </p:nvSpPr>
        <p:spPr>
          <a:xfrm>
            <a:off x="6724650" y="2581275"/>
            <a:ext cx="50979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0" name="Text 10"/>
          <p:cNvSpPr/>
          <p:nvPr/>
        </p:nvSpPr>
        <p:spPr>
          <a:xfrm>
            <a:off x="6800850" y="3228975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1" name="Text 11"/>
          <p:cNvSpPr/>
          <p:nvPr/>
        </p:nvSpPr>
        <p:spPr>
          <a:xfrm>
            <a:off x="6705600" y="3724275"/>
            <a:ext cx="2095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2" name="Text 12"/>
          <p:cNvSpPr/>
          <p:nvPr/>
        </p:nvSpPr>
        <p:spPr>
          <a:xfrm>
            <a:off x="6781800" y="3952875"/>
            <a:ext cx="2095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9220200" y="3952875"/>
            <a:ext cx="2095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6705600" y="4600575"/>
            <a:ext cx="2095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6781800" y="4829175"/>
            <a:ext cx="2095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9144000" y="4600575"/>
            <a:ext cx="2095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8" name="Text 18"/>
          <p:cNvSpPr/>
          <p:nvPr/>
        </p:nvSpPr>
        <p:spPr>
          <a:xfrm>
            <a:off x="9220200" y="4829175"/>
            <a:ext cx="2095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9" name="Text 19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8</a:t>
            </a:r>
            <a:endParaRPr lang="en-US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83ED89-A7F3-D0D6-2B40-78668C7217DB}"/>
              </a:ext>
            </a:extLst>
          </p:cNvPr>
          <p:cNvSpPr txBox="1"/>
          <p:nvPr/>
        </p:nvSpPr>
        <p:spPr>
          <a:xfrm>
            <a:off x="6705600" y="2619196"/>
            <a:ext cx="3802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chemeClr val="bg2"/>
                </a:solidFill>
              </a:rPr>
              <a:t>사용자가 내린 </a:t>
            </a:r>
            <a:r>
              <a:rPr kumimoji="1" lang="ko-KR" altLang="en-US" dirty="0" err="1">
                <a:solidFill>
                  <a:schemeClr val="bg2"/>
                </a:solidFill>
              </a:rPr>
              <a:t>비구조화된</a:t>
            </a:r>
            <a:r>
              <a:rPr kumimoji="1" lang="ko-KR" altLang="en-US" dirty="0">
                <a:solidFill>
                  <a:schemeClr val="bg2"/>
                </a:solidFill>
              </a:rPr>
              <a:t> 프롬프트를 </a:t>
            </a:r>
            <a:r>
              <a:rPr kumimoji="1" lang="en-US" altLang="ko-KR" dirty="0">
                <a:solidFill>
                  <a:schemeClr val="bg2"/>
                </a:solidFill>
              </a:rPr>
              <a:t>RAG</a:t>
            </a:r>
            <a:r>
              <a:rPr kumimoji="1" lang="ko-KR" altLang="en-US" dirty="0">
                <a:solidFill>
                  <a:schemeClr val="bg2"/>
                </a:solidFill>
              </a:rPr>
              <a:t> 와 </a:t>
            </a:r>
            <a:r>
              <a:rPr kumimoji="1" lang="en-US" altLang="ko-KR" dirty="0">
                <a:solidFill>
                  <a:schemeClr val="bg2"/>
                </a:solidFill>
              </a:rPr>
              <a:t>API</a:t>
            </a:r>
            <a:r>
              <a:rPr kumimoji="1" lang="ko-KR" altLang="en-US" dirty="0" err="1">
                <a:solidFill>
                  <a:schemeClr val="bg2"/>
                </a:solidFill>
              </a:rPr>
              <a:t>를</a:t>
            </a:r>
            <a:r>
              <a:rPr kumimoji="1" lang="ko-KR" altLang="en-US" dirty="0">
                <a:solidFill>
                  <a:schemeClr val="bg2"/>
                </a:solidFill>
              </a:rPr>
              <a:t> 포함한 여러 단계의 파이프라인이 협력하여 </a:t>
            </a:r>
            <a:br>
              <a:rPr kumimoji="1" lang="en-US" altLang="ko-KR" dirty="0">
                <a:solidFill>
                  <a:schemeClr val="bg2"/>
                </a:solidFill>
              </a:rPr>
            </a:br>
            <a:r>
              <a:rPr kumimoji="1" lang="en-US" altLang="ko-KR" dirty="0">
                <a:solidFill>
                  <a:schemeClr val="bg2"/>
                </a:solidFill>
              </a:rPr>
              <a:t>LLM</a:t>
            </a:r>
            <a:r>
              <a:rPr kumimoji="1" lang="ko-KR" altLang="en-US" dirty="0">
                <a:solidFill>
                  <a:schemeClr val="bg2"/>
                </a:solidFill>
              </a:rPr>
              <a:t>에게 구조화된 데이터를 날림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C1A46-81CD-400F-1E02-B521639CAF57}"/>
              </a:ext>
            </a:extLst>
          </p:cNvPr>
          <p:cNvSpPr txBox="1"/>
          <p:nvPr/>
        </p:nvSpPr>
        <p:spPr>
          <a:xfrm>
            <a:off x="6724650" y="4622839"/>
            <a:ext cx="4591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bg2"/>
                </a:solidFill>
              </a:rPr>
              <a:t>RAG</a:t>
            </a:r>
            <a:r>
              <a:rPr kumimoji="1" lang="ko-KR" altLang="en-US" dirty="0" err="1">
                <a:solidFill>
                  <a:schemeClr val="bg2"/>
                </a:solidFill>
              </a:rPr>
              <a:t>를</a:t>
            </a:r>
            <a:r>
              <a:rPr kumimoji="1" lang="ko-KR" altLang="en-US" dirty="0">
                <a:solidFill>
                  <a:schemeClr val="bg2"/>
                </a:solidFill>
              </a:rPr>
              <a:t> 쓰는 이유</a:t>
            </a:r>
            <a:r>
              <a:rPr kumimoji="1" lang="en-US" altLang="ko-KR" dirty="0">
                <a:solidFill>
                  <a:schemeClr val="bg2"/>
                </a:solidFill>
              </a:rPr>
              <a:t>:</a:t>
            </a:r>
          </a:p>
          <a:p>
            <a:r>
              <a:rPr kumimoji="1" lang="ko-KR" altLang="en-US" dirty="0">
                <a:solidFill>
                  <a:schemeClr val="bg2"/>
                </a:solidFill>
              </a:rPr>
              <a:t>건강에 관련된 서비스이기 때문에</a:t>
            </a:r>
            <a:endParaRPr kumimoji="1" lang="en-US" altLang="ko-KR" dirty="0">
              <a:solidFill>
                <a:schemeClr val="bg2"/>
              </a:solidFill>
            </a:endParaRPr>
          </a:p>
          <a:p>
            <a:r>
              <a:rPr kumimoji="1" lang="ko-KR" altLang="en-US" dirty="0">
                <a:solidFill>
                  <a:schemeClr val="bg2"/>
                </a:solidFill>
              </a:rPr>
              <a:t>더 </a:t>
            </a:r>
            <a:r>
              <a:rPr kumimoji="1" lang="ko-KR" altLang="en-US" dirty="0" err="1">
                <a:solidFill>
                  <a:schemeClr val="bg2"/>
                </a:solidFill>
              </a:rPr>
              <a:t>신뢰성있고</a:t>
            </a:r>
            <a:r>
              <a:rPr kumimoji="1" lang="ko-KR" altLang="en-US" dirty="0">
                <a:solidFill>
                  <a:schemeClr val="bg2"/>
                </a:solidFill>
              </a:rPr>
              <a:t> 전문적인 지식을 쓰기 위해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279641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" y="1433513"/>
            <a:ext cx="16764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1616933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820" y="1773709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0262" y="1466850"/>
            <a:ext cx="2438400" cy="1524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4650" y="1628775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1813" y="1762125"/>
            <a:ext cx="25717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4400" y="2071688"/>
            <a:ext cx="1219200" cy="28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6850" y="2195513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476375"/>
            <a:ext cx="2438400" cy="1524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1850" y="1628775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67587" y="1762125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91600" y="2071688"/>
            <a:ext cx="1219200" cy="285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4050" y="2195513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67950" y="1486287"/>
            <a:ext cx="1676400" cy="1524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0" y="165735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53750" y="1748031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3114675"/>
            <a:ext cx="5524500" cy="1600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3343275"/>
            <a:ext cx="142875" cy="190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3724275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4029075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4333875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3114675"/>
            <a:ext cx="5524500" cy="1600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3343275"/>
            <a:ext cx="19050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3724275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4029075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4333875"/>
            <a:ext cx="1524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수집 및 통합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457200" y="1171575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심평원과 식약처 API 연동을 통한 정확한 성분 데이터 확보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-125627" y="2366962"/>
            <a:ext cx="2133600" cy="95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심평원</a:t>
            </a:r>
            <a:endParaRPr lang="en-US" sz="1500" dirty="0"/>
          </a:p>
        </p:txBody>
      </p:sp>
      <p:sp>
        <p:nvSpPr>
          <p:cNvPr id="35" name="Text 3"/>
          <p:cNvSpPr/>
          <p:nvPr/>
        </p:nvSpPr>
        <p:spPr>
          <a:xfrm>
            <a:off x="-276225" y="2645568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</a:t>
            </a:r>
            <a:r>
              <a:rPr lang="en-US" sz="1200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건강보험심사평가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2133600" y="2314575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식약처</a:t>
            </a:r>
            <a:endParaRPr lang="en-US" sz="1500" dirty="0"/>
          </a:p>
        </p:txBody>
      </p:sp>
      <p:sp>
        <p:nvSpPr>
          <p:cNvPr id="37" name="Text 5"/>
          <p:cNvSpPr/>
          <p:nvPr/>
        </p:nvSpPr>
        <p:spPr>
          <a:xfrm>
            <a:off x="2133600" y="2619375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식품의약품안전처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6400800" y="2314575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통합</a:t>
            </a:r>
            <a:endParaRPr lang="en-US" sz="1500" dirty="0"/>
          </a:p>
        </p:txBody>
      </p:sp>
      <p:sp>
        <p:nvSpPr>
          <p:cNvPr id="39" name="Text 7"/>
          <p:cNvSpPr/>
          <p:nvPr/>
        </p:nvSpPr>
        <p:spPr>
          <a:xfrm>
            <a:off x="6400800" y="2619375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성분 데이터 병합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10668000" y="2310006"/>
            <a:ext cx="1066800" cy="2712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</a:t>
            </a: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시스템</a:t>
            </a:r>
            <a:endParaRPr lang="en-US" sz="1500" dirty="0"/>
          </a:p>
        </p:txBody>
      </p:sp>
      <p:sp>
        <p:nvSpPr>
          <p:cNvPr id="41" name="Text 9"/>
          <p:cNvSpPr/>
          <p:nvPr/>
        </p:nvSpPr>
        <p:spPr>
          <a:xfrm>
            <a:off x="9879330" y="2650952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정확한 성분 데이터베이스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904875" y="3305175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연동 과정</a:t>
            </a:r>
            <a:endParaRPr lang="en-US" sz="1500" dirty="0"/>
          </a:p>
        </p:txBody>
      </p:sp>
      <p:sp>
        <p:nvSpPr>
          <p:cNvPr id="43" name="Text 11"/>
          <p:cNvSpPr/>
          <p:nvPr/>
        </p:nvSpPr>
        <p:spPr>
          <a:xfrm>
            <a:off x="876300" y="3686175"/>
            <a:ext cx="41251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심평원 API를 통해 영양 보충제 관련 데이터를 수집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876300" y="3990975"/>
            <a:ext cx="37086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식약처 API를 통해 추가적인 성분 정보를 통합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876300" y="4295775"/>
            <a:ext cx="47246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두 API의 데이터 구조를 일치시키기 위한 데이터 변환 과정</a:t>
            </a:r>
            <a:endParaRPr lang="en-US" sz="1200" dirty="0"/>
          </a:p>
        </p:txBody>
      </p:sp>
      <p:sp>
        <p:nvSpPr>
          <p:cNvPr id="46" name="Text 14"/>
          <p:cNvSpPr/>
          <p:nvPr/>
        </p:nvSpPr>
        <p:spPr>
          <a:xfrm>
            <a:off x="6705600" y="3305175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품질 보장</a:t>
            </a:r>
            <a:endParaRPr lang="en-US" sz="1500" dirty="0"/>
          </a:p>
        </p:txBody>
      </p:sp>
      <p:sp>
        <p:nvSpPr>
          <p:cNvPr id="47" name="Text 15"/>
          <p:cNvSpPr/>
          <p:nvPr/>
        </p:nvSpPr>
        <p:spPr>
          <a:xfrm>
            <a:off x="6629400" y="3686175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정기적인 데이터 업데이트를 통해 최신 정보 유지</a:t>
            </a:r>
            <a:endParaRPr lang="en-US" sz="1200" dirty="0"/>
          </a:p>
        </p:txBody>
      </p:sp>
      <p:sp>
        <p:nvSpPr>
          <p:cNvPr id="48" name="Text 16"/>
          <p:cNvSpPr/>
          <p:nvPr/>
        </p:nvSpPr>
        <p:spPr>
          <a:xfrm>
            <a:off x="6629400" y="3990975"/>
            <a:ext cx="37288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일관성과 정확도를 위한 검증 메커니즘</a:t>
            </a:r>
            <a:endParaRPr lang="en-US" sz="1200" dirty="0"/>
          </a:p>
        </p:txBody>
      </p:sp>
      <p:sp>
        <p:nvSpPr>
          <p:cNvPr id="49" name="Text 17"/>
          <p:cNvSpPr/>
          <p:nvPr/>
        </p:nvSpPr>
        <p:spPr>
          <a:xfrm>
            <a:off x="6629400" y="4295775"/>
            <a:ext cx="3596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 피드백을 통한 데이터 품질 지속 개선</a:t>
            </a:r>
            <a:endParaRPr lang="en-US" sz="1200" dirty="0"/>
          </a:p>
        </p:txBody>
      </p:sp>
      <p:sp>
        <p:nvSpPr>
          <p:cNvPr id="50" name="Text 18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552575"/>
            <a:ext cx="3142804" cy="2305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5152" y="1781175"/>
            <a:ext cx="666750" cy="666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47552" y="1943100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981325"/>
            <a:ext cx="2685604" cy="647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13372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43852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2404" y="2695575"/>
            <a:ext cx="61972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524" y="1552575"/>
            <a:ext cx="3142804" cy="2305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2476" y="1781175"/>
            <a:ext cx="666750" cy="666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2976" y="194310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3124" y="2981325"/>
            <a:ext cx="2685604" cy="647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3124" y="313372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3124" y="3438525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9727" y="2695575"/>
            <a:ext cx="619720" cy="190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91848" y="1323975"/>
            <a:ext cx="3142804" cy="2762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9800" y="1552575"/>
            <a:ext cx="666750" cy="6667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20300" y="1714500"/>
            <a:ext cx="28575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0448" y="2752725"/>
            <a:ext cx="2685604" cy="1104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0448" y="2905125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0448" y="3438525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증상과 영양소 분석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685800" y="2600325"/>
            <a:ext cx="26856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증상-영양소 매핑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914400" y="3095625"/>
            <a:ext cx="294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 증상과 관련된 영양소를 식별</a:t>
            </a:r>
            <a:endParaRPr lang="en-US" sz="1200" dirty="0"/>
          </a:p>
        </p:txBody>
      </p:sp>
      <p:sp>
        <p:nvSpPr>
          <p:cNvPr id="31" name="Text 3"/>
          <p:cNvSpPr/>
          <p:nvPr/>
        </p:nvSpPr>
        <p:spPr>
          <a:xfrm>
            <a:off x="914400" y="3400425"/>
            <a:ext cx="2763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증상에 적합한 영양 보충제를 매핑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4753124" y="2600325"/>
            <a:ext cx="26856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증상+나이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분석</a:t>
            </a:r>
            <a:endParaRPr lang="en-US" sz="1500" dirty="0"/>
          </a:p>
        </p:txBody>
      </p:sp>
      <p:sp>
        <p:nvSpPr>
          <p:cNvPr id="33" name="Text 5"/>
          <p:cNvSpPr/>
          <p:nvPr/>
        </p:nvSpPr>
        <p:spPr>
          <a:xfrm>
            <a:off x="4981724" y="3095625"/>
            <a:ext cx="25299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증상과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나이를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결합하여 분석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4981724" y="3400425"/>
            <a:ext cx="23470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영양소에 대한 우선순위 설정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8820448" y="2371725"/>
            <a:ext cx="26856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위험 영양소 필터링</a:t>
            </a:r>
            <a:endParaRPr lang="en-US" sz="1500" dirty="0"/>
          </a:p>
        </p:txBody>
      </p:sp>
      <p:sp>
        <p:nvSpPr>
          <p:cNvPr id="36" name="Text 8"/>
          <p:cNvSpPr/>
          <p:nvPr/>
        </p:nvSpPr>
        <p:spPr>
          <a:xfrm>
            <a:off x="9049048" y="2867025"/>
            <a:ext cx="245700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사용자에게 해로울 수 있는 영양소 식별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9049048" y="3400425"/>
            <a:ext cx="245700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안전하지 않은 영양소는 추천에서 제외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2314575" y="4733925"/>
            <a:ext cx="78200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5" y="66675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171575"/>
            <a:ext cx="5524500" cy="1714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362075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763" y="1419225"/>
            <a:ext cx="1428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18954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2002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5050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038475"/>
            <a:ext cx="5524500" cy="31718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765" y="3000375"/>
            <a:ext cx="5372100" cy="30194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171575"/>
            <a:ext cx="5524500" cy="1143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362075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1763" y="1419225"/>
            <a:ext cx="2190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1857375"/>
            <a:ext cx="754707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1707" y="1857375"/>
            <a:ext cx="7620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69907" y="1857375"/>
            <a:ext cx="7620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08107" y="1857375"/>
            <a:ext cx="4953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79607" y="1857375"/>
            <a:ext cx="7620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33815" y="2553353"/>
            <a:ext cx="5524500" cy="25241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2657475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6050" y="2714625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3209925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3495675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3781425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48750" y="2657475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53525" y="2714625"/>
            <a:ext cx="171450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48750" y="3209925"/>
            <a:ext cx="1143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48750" y="3495675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48750" y="3952875"/>
            <a:ext cx="114300" cy="1524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결과 요약 및 추천</a:t>
            </a:r>
            <a:endParaRPr lang="en-US" sz="2700" dirty="0"/>
          </a:p>
        </p:txBody>
      </p:sp>
      <p:sp>
        <p:nvSpPr>
          <p:cNvPr id="40" name="Text 1"/>
          <p:cNvSpPr/>
          <p:nvPr/>
        </p:nvSpPr>
        <p:spPr>
          <a:xfrm>
            <a:off x="1143000" y="1419225"/>
            <a:ext cx="14987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분석 결과 요약</a:t>
            </a:r>
            <a:endParaRPr lang="en-US" sz="1500" dirty="0"/>
          </a:p>
        </p:txBody>
      </p:sp>
      <p:sp>
        <p:nvSpPr>
          <p:cNvPr id="41" name="Text 2"/>
          <p:cNvSpPr/>
          <p:nvPr/>
        </p:nvSpPr>
        <p:spPr>
          <a:xfrm>
            <a:off x="876300" y="1857375"/>
            <a:ext cx="47448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사용자의 </a:t>
            </a:r>
            <a:r>
              <a:rPr lang="en-US" sz="1200" dirty="0" err="1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증상과</a:t>
            </a: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나이</a:t>
            </a: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분석을 통해 필요한 영양소를 식별</a:t>
            </a:r>
            <a:endParaRPr lang="en-US" sz="1200" dirty="0"/>
          </a:p>
        </p:txBody>
      </p:sp>
      <p:sp>
        <p:nvSpPr>
          <p:cNvPr id="42" name="Text 3"/>
          <p:cNvSpPr/>
          <p:nvPr/>
        </p:nvSpPr>
        <p:spPr>
          <a:xfrm>
            <a:off x="876300" y="2162175"/>
            <a:ext cx="37288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위험한 영양소 조합을 필터링하여 안전성 보장</a:t>
            </a:r>
            <a:endParaRPr lang="en-US" sz="1200" dirty="0"/>
          </a:p>
        </p:txBody>
      </p:sp>
      <p:sp>
        <p:nvSpPr>
          <p:cNvPr id="43" name="Text 4"/>
          <p:cNvSpPr/>
          <p:nvPr/>
        </p:nvSpPr>
        <p:spPr>
          <a:xfrm>
            <a:off x="876300" y="2466975"/>
            <a:ext cx="25299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개인화된 영양소 우선순위 설정</a:t>
            </a:r>
            <a:endParaRPr lang="en-US" sz="1200" dirty="0"/>
          </a:p>
        </p:txBody>
      </p:sp>
      <p:sp>
        <p:nvSpPr>
          <p:cNvPr id="44" name="Text 5"/>
          <p:cNvSpPr/>
          <p:nvPr/>
        </p:nvSpPr>
        <p:spPr>
          <a:xfrm>
            <a:off x="6896100" y="1419225"/>
            <a:ext cx="12065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추천 영양소</a:t>
            </a:r>
            <a:endParaRPr lang="en-US" sz="1500" dirty="0"/>
          </a:p>
        </p:txBody>
      </p:sp>
      <p:sp>
        <p:nvSpPr>
          <p:cNvPr id="45" name="Text 6"/>
          <p:cNvSpPr/>
          <p:nvPr/>
        </p:nvSpPr>
        <p:spPr>
          <a:xfrm>
            <a:off x="6515100" y="1857375"/>
            <a:ext cx="9056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비타민 A</a:t>
            </a:r>
            <a:endParaRPr lang="en-US" sz="1050" dirty="0"/>
          </a:p>
        </p:txBody>
      </p:sp>
      <p:sp>
        <p:nvSpPr>
          <p:cNvPr id="46" name="Text 7"/>
          <p:cNvSpPr/>
          <p:nvPr/>
        </p:nvSpPr>
        <p:spPr>
          <a:xfrm>
            <a:off x="7346007" y="1857375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비타민 C</a:t>
            </a:r>
            <a:endParaRPr lang="en-US" sz="1050" dirty="0"/>
          </a:p>
        </p:txBody>
      </p:sp>
      <p:sp>
        <p:nvSpPr>
          <p:cNvPr id="47" name="Text 8"/>
          <p:cNvSpPr/>
          <p:nvPr/>
        </p:nvSpPr>
        <p:spPr>
          <a:xfrm>
            <a:off x="8184207" y="1857375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비타민 D</a:t>
            </a:r>
            <a:endParaRPr lang="en-US" sz="1050" dirty="0"/>
          </a:p>
        </p:txBody>
      </p:sp>
      <p:sp>
        <p:nvSpPr>
          <p:cNvPr id="48" name="Text 9"/>
          <p:cNvSpPr/>
          <p:nvPr/>
        </p:nvSpPr>
        <p:spPr>
          <a:xfrm>
            <a:off x="9022407" y="1857375"/>
            <a:ext cx="495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칼슘</a:t>
            </a:r>
            <a:endParaRPr lang="en-US" sz="1050" dirty="0"/>
          </a:p>
        </p:txBody>
      </p:sp>
      <p:sp>
        <p:nvSpPr>
          <p:cNvPr id="49" name="Text 10"/>
          <p:cNvSpPr/>
          <p:nvPr/>
        </p:nvSpPr>
        <p:spPr>
          <a:xfrm>
            <a:off x="9593907" y="1857375"/>
            <a:ext cx="76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마그네슘</a:t>
            </a:r>
            <a:endParaRPr lang="en-US" sz="1050" dirty="0"/>
          </a:p>
        </p:txBody>
      </p:sp>
      <p:sp>
        <p:nvSpPr>
          <p:cNvPr id="50" name="Text 11"/>
          <p:cNvSpPr/>
          <p:nvPr/>
        </p:nvSpPr>
        <p:spPr>
          <a:xfrm>
            <a:off x="6858000" y="2714625"/>
            <a:ext cx="411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효능</a:t>
            </a:r>
            <a:endParaRPr lang="en-US" sz="1350" dirty="0"/>
          </a:p>
        </p:txBody>
      </p:sp>
      <p:sp>
        <p:nvSpPr>
          <p:cNvPr id="51" name="Text 12"/>
          <p:cNvSpPr/>
          <p:nvPr/>
        </p:nvSpPr>
        <p:spPr>
          <a:xfrm>
            <a:off x="6591300" y="3152775"/>
            <a:ext cx="120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에너지 수준 향상</a:t>
            </a:r>
            <a:endParaRPr lang="en-US" sz="1050" dirty="0"/>
          </a:p>
        </p:txBody>
      </p:sp>
      <p:sp>
        <p:nvSpPr>
          <p:cNvPr id="52" name="Text 13"/>
          <p:cNvSpPr/>
          <p:nvPr/>
        </p:nvSpPr>
        <p:spPr>
          <a:xfrm>
            <a:off x="6591300" y="3438525"/>
            <a:ext cx="1049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면역 체계 강화</a:t>
            </a:r>
            <a:endParaRPr lang="en-US" sz="1050" dirty="0"/>
          </a:p>
        </p:txBody>
      </p:sp>
      <p:sp>
        <p:nvSpPr>
          <p:cNvPr id="53" name="Text 14"/>
          <p:cNvSpPr/>
          <p:nvPr/>
        </p:nvSpPr>
        <p:spPr>
          <a:xfrm>
            <a:off x="6591300" y="3724275"/>
            <a:ext cx="125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운동 후 회복 촉진</a:t>
            </a:r>
            <a:endParaRPr lang="en-US" sz="1050" dirty="0"/>
          </a:p>
        </p:txBody>
      </p:sp>
      <p:sp>
        <p:nvSpPr>
          <p:cNvPr id="54" name="Text 15"/>
          <p:cNvSpPr/>
          <p:nvPr/>
        </p:nvSpPr>
        <p:spPr>
          <a:xfrm>
            <a:off x="9505950" y="2714625"/>
            <a:ext cx="10860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안전성 경고</a:t>
            </a:r>
            <a:endParaRPr lang="en-US" sz="1350" dirty="0"/>
          </a:p>
        </p:txBody>
      </p:sp>
      <p:sp>
        <p:nvSpPr>
          <p:cNvPr id="55" name="Text 16"/>
          <p:cNvSpPr/>
          <p:nvPr/>
        </p:nvSpPr>
        <p:spPr>
          <a:xfrm>
            <a:off x="9239250" y="3152775"/>
            <a:ext cx="214258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과다 섭취 시 부작용 발생 가능</a:t>
            </a:r>
            <a:endParaRPr lang="en-US" sz="1050" dirty="0"/>
          </a:p>
        </p:txBody>
      </p:sp>
      <p:sp>
        <p:nvSpPr>
          <p:cNvPr id="56" name="Text 17"/>
          <p:cNvSpPr/>
          <p:nvPr/>
        </p:nvSpPr>
        <p:spPr>
          <a:xfrm>
            <a:off x="9239250" y="3438525"/>
            <a:ext cx="2305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특정 질병 환자에게는 금지된 영양소 포함</a:t>
            </a:r>
            <a:endParaRPr lang="en-US" sz="1050" dirty="0"/>
          </a:p>
        </p:txBody>
      </p:sp>
      <p:sp>
        <p:nvSpPr>
          <p:cNvPr id="57" name="Text 18"/>
          <p:cNvSpPr/>
          <p:nvPr/>
        </p:nvSpPr>
        <p:spPr>
          <a:xfrm>
            <a:off x="9239250" y="3895725"/>
            <a:ext cx="22136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약물과의 상호작용 가능성 있음</a:t>
            </a:r>
            <a:endParaRPr lang="en-US" sz="1050" dirty="0"/>
          </a:p>
        </p:txBody>
      </p:sp>
      <p:sp>
        <p:nvSpPr>
          <p:cNvPr id="58" name="Text 19"/>
          <p:cNvSpPr/>
          <p:nvPr/>
        </p:nvSpPr>
        <p:spPr>
          <a:xfrm>
            <a:off x="6896100" y="5391150"/>
            <a:ext cx="17273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59" name="Text 20"/>
          <p:cNvSpPr/>
          <p:nvPr/>
        </p:nvSpPr>
        <p:spPr>
          <a:xfrm>
            <a:off x="6610350" y="5829300"/>
            <a:ext cx="188505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60" name="Text 21"/>
          <p:cNvSpPr/>
          <p:nvPr/>
        </p:nvSpPr>
        <p:spPr>
          <a:xfrm>
            <a:off x="8551366" y="5829300"/>
            <a:ext cx="116478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61" name="Text 22"/>
          <p:cNvSpPr/>
          <p:nvPr/>
        </p:nvSpPr>
        <p:spPr>
          <a:xfrm>
            <a:off x="9892159" y="5829300"/>
            <a:ext cx="198256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62" name="Text 23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8</a:t>
            </a:r>
            <a:endParaRPr 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8973B3-898D-B525-CB9A-5E5932CFBFFC}"/>
              </a:ext>
            </a:extLst>
          </p:cNvPr>
          <p:cNvSpPr txBox="1"/>
          <p:nvPr/>
        </p:nvSpPr>
        <p:spPr>
          <a:xfrm>
            <a:off x="5914873" y="5313997"/>
            <a:ext cx="59141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시스템의 내부 동작 과정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en" altLang="ko-KR" dirty="0">
              <a:solidFill>
                <a:schemeClr val="bg1"/>
              </a:solidFill>
            </a:endParaRPr>
          </a:p>
          <a:p>
            <a:r>
              <a:rPr lang="en" altLang="ko-KR" dirty="0">
                <a:solidFill>
                  <a:schemeClr val="bg1"/>
                </a:solidFill>
              </a:rPr>
              <a:t>RAG: "</a:t>
            </a:r>
            <a:r>
              <a:rPr lang="ko-KR" altLang="en-US" dirty="0">
                <a:solidFill>
                  <a:schemeClr val="bg1"/>
                </a:solidFill>
              </a:rPr>
              <a:t>마그네슘은 눈 떨림에 효과적입니다</a:t>
            </a:r>
            <a:r>
              <a:rPr lang="en-US" altLang="ko-KR" dirty="0">
                <a:solidFill>
                  <a:schemeClr val="bg1"/>
                </a:solidFill>
              </a:rPr>
              <a:t>."  =&gt; </a:t>
            </a:r>
            <a:r>
              <a:rPr lang="ko-KR" altLang="en-US" dirty="0">
                <a:solidFill>
                  <a:schemeClr val="bg1"/>
                </a:solidFill>
              </a:rPr>
              <a:t>추천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심평원 </a:t>
            </a:r>
            <a:r>
              <a:rPr lang="en" altLang="ko-KR" dirty="0">
                <a:solidFill>
                  <a:schemeClr val="bg1"/>
                </a:solidFill>
              </a:rPr>
              <a:t>API: "</a:t>
            </a:r>
            <a:r>
              <a:rPr lang="ko-KR" altLang="en-US" dirty="0">
                <a:solidFill>
                  <a:schemeClr val="bg1"/>
                </a:solidFill>
              </a:rPr>
              <a:t>사용자는 </a:t>
            </a:r>
            <a:r>
              <a:rPr lang="ko-KR" altLang="en-US" b="1" dirty="0">
                <a:solidFill>
                  <a:schemeClr val="bg1"/>
                </a:solidFill>
              </a:rPr>
              <a:t>심장약</a:t>
            </a:r>
            <a:r>
              <a:rPr lang="ko-KR" altLang="en-US" dirty="0">
                <a:solidFill>
                  <a:schemeClr val="bg1"/>
                </a:solidFill>
              </a:rPr>
              <a:t>을 복용 중입니다</a:t>
            </a:r>
            <a:r>
              <a:rPr lang="en-US" altLang="ko-KR" dirty="0">
                <a:solidFill>
                  <a:schemeClr val="bg1"/>
                </a:solidFill>
              </a:rPr>
              <a:t>."</a:t>
            </a:r>
          </a:p>
          <a:p>
            <a:r>
              <a:rPr lang="ko-KR" altLang="en-US" dirty="0" err="1">
                <a:solidFill>
                  <a:schemeClr val="bg1"/>
                </a:solidFill>
              </a:rPr>
              <a:t>식약처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" altLang="ko-KR" dirty="0">
                <a:solidFill>
                  <a:schemeClr val="bg1"/>
                </a:solidFill>
              </a:rPr>
              <a:t>API: "</a:t>
            </a:r>
            <a:r>
              <a:rPr lang="ko-KR" altLang="en-US" b="1" dirty="0">
                <a:solidFill>
                  <a:schemeClr val="bg1"/>
                </a:solidFill>
              </a:rPr>
              <a:t>심장약</a:t>
            </a:r>
            <a:r>
              <a:rPr lang="ko-KR" altLang="en-US" dirty="0">
                <a:solidFill>
                  <a:schemeClr val="bg1"/>
                </a:solidFill>
              </a:rPr>
              <a:t>은 마그네슘과 상호작용 위험이 있음</a:t>
            </a:r>
            <a:r>
              <a:rPr lang="en-US" altLang="ko-KR" dirty="0">
                <a:solidFill>
                  <a:schemeClr val="bg1"/>
                </a:solidFill>
              </a:rPr>
              <a:t>.” =&gt; </a:t>
            </a:r>
            <a:r>
              <a:rPr lang="ko-KR" altLang="en-US" dirty="0">
                <a:solidFill>
                  <a:schemeClr val="bg1"/>
                </a:solidFill>
              </a:rPr>
              <a:t>경고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32E0CB-568F-E3AF-ADC2-A467C680B00F}"/>
              </a:ext>
            </a:extLst>
          </p:cNvPr>
          <p:cNvSpPr txBox="1"/>
          <p:nvPr/>
        </p:nvSpPr>
        <p:spPr>
          <a:xfrm>
            <a:off x="5946054" y="4070952"/>
            <a:ext cx="3195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chemeClr val="bg1"/>
                </a:solidFill>
              </a:rPr>
              <a:t>사용자의 프롬프트</a:t>
            </a:r>
            <a:r>
              <a:rPr kumimoji="1" lang="en-US" altLang="ko-KR" dirty="0"/>
              <a:t>:</a:t>
            </a:r>
            <a:r>
              <a:rPr kumimoji="1" lang="en-US" altLang="ko-KR" dirty="0">
                <a:solidFill>
                  <a:schemeClr val="bg1"/>
                </a:solidFill>
              </a:rPr>
              <a:t>:</a:t>
            </a:r>
          </a:p>
          <a:p>
            <a:r>
              <a:rPr kumimoji="1" lang="en-US" altLang="ko-KR" dirty="0">
                <a:solidFill>
                  <a:schemeClr val="bg1"/>
                </a:solidFill>
              </a:rPr>
              <a:t>“</a:t>
            </a:r>
            <a:r>
              <a:rPr kumimoji="1" lang="ko-KR" altLang="en-US" dirty="0">
                <a:solidFill>
                  <a:schemeClr val="bg1"/>
                </a:solidFill>
              </a:rPr>
              <a:t>제 나이는 </a:t>
            </a:r>
            <a:r>
              <a:rPr kumimoji="1" lang="en-US" altLang="ko-KR" dirty="0">
                <a:solidFill>
                  <a:schemeClr val="bg1"/>
                </a:solidFill>
              </a:rPr>
              <a:t>3</a:t>
            </a:r>
            <a:r>
              <a:rPr kumimoji="1" lang="ko-KR" altLang="en-US" dirty="0">
                <a:solidFill>
                  <a:schemeClr val="bg1"/>
                </a:solidFill>
              </a:rPr>
              <a:t>살이고 </a:t>
            </a:r>
            <a:endParaRPr kumimoji="1" lang="en-US" altLang="ko-KR" dirty="0">
              <a:solidFill>
                <a:schemeClr val="bg1"/>
              </a:solidFill>
            </a:endParaRPr>
          </a:p>
          <a:p>
            <a:r>
              <a:rPr kumimoji="1" lang="ko-KR" altLang="en-US" dirty="0">
                <a:solidFill>
                  <a:schemeClr val="bg1"/>
                </a:solidFill>
              </a:rPr>
              <a:t>자꾸 눈 밑이 </a:t>
            </a:r>
            <a:r>
              <a:rPr kumimoji="1" lang="ko-KR" altLang="en-US" dirty="0" err="1">
                <a:solidFill>
                  <a:schemeClr val="bg1"/>
                </a:solidFill>
              </a:rPr>
              <a:t>떨려요</a:t>
            </a:r>
            <a:r>
              <a:rPr kumimoji="1" lang="en-US" altLang="ko-KR" dirty="0">
                <a:solidFill>
                  <a:schemeClr val="bg1"/>
                </a:solidFill>
              </a:rPr>
              <a:t>. </a:t>
            </a:r>
          </a:p>
          <a:p>
            <a:r>
              <a:rPr kumimoji="1" lang="ko-KR" altLang="en-US" dirty="0">
                <a:solidFill>
                  <a:schemeClr val="bg1"/>
                </a:solidFill>
              </a:rPr>
              <a:t>현재</a:t>
            </a:r>
            <a:r>
              <a:rPr kumimoji="1" lang="en-US" altLang="ko-KR" dirty="0">
                <a:solidFill>
                  <a:schemeClr val="bg1"/>
                </a:solidFill>
              </a:rPr>
              <a:t> </a:t>
            </a:r>
            <a:r>
              <a:rPr kumimoji="1" lang="ko-KR" altLang="en-US" dirty="0">
                <a:solidFill>
                  <a:schemeClr val="bg1"/>
                </a:solidFill>
              </a:rPr>
              <a:t>심장약을 먹고 있어요</a:t>
            </a:r>
            <a:r>
              <a:rPr kumimoji="1" lang="en-US" altLang="ko-KR" dirty="0">
                <a:solidFill>
                  <a:schemeClr val="bg1"/>
                </a:solidFill>
              </a:rPr>
              <a:t>.”</a:t>
            </a:r>
            <a:endParaRPr kumimoji="1" lang="en-US" altLang="ko-KR" dirty="0"/>
          </a:p>
          <a:p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247775"/>
            <a:ext cx="1438424" cy="419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381125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185988"/>
            <a:ext cx="11277600" cy="28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971675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4590" y="1971675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1980" y="1971675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9371" y="1971675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6761" y="1971675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44151" y="1971675"/>
            <a:ext cx="190500" cy="1905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프로젝트 진행 계획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819150" y="1323975"/>
            <a:ext cx="11088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총 기간: 6주</a:t>
            </a:r>
            <a:endParaRPr lang="en-US" sz="1350" dirty="0"/>
          </a:p>
        </p:txBody>
      </p:sp>
      <p:sp>
        <p:nvSpPr>
          <p:cNvPr id="37" name="Text 2"/>
          <p:cNvSpPr/>
          <p:nvPr/>
        </p:nvSpPr>
        <p:spPr>
          <a:xfrm>
            <a:off x="223421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1주차</a:t>
            </a:r>
            <a:endParaRPr lang="en-US" sz="1200" dirty="0"/>
          </a:p>
        </p:txBody>
      </p:sp>
      <p:sp>
        <p:nvSpPr>
          <p:cNvPr id="38" name="Text 3"/>
          <p:cNvSpPr/>
          <p:nvPr/>
        </p:nvSpPr>
        <p:spPr>
          <a:xfrm>
            <a:off x="2402711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2주차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4582001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3주차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6761291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4주차</a:t>
            </a:r>
            <a:endParaRPr lang="en-US" sz="1200" dirty="0"/>
          </a:p>
        </p:txBody>
      </p:sp>
      <p:sp>
        <p:nvSpPr>
          <p:cNvPr id="41" name="Text 6"/>
          <p:cNvSpPr/>
          <p:nvPr/>
        </p:nvSpPr>
        <p:spPr>
          <a:xfrm>
            <a:off x="8940582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5주차</a:t>
            </a:r>
            <a:endParaRPr lang="en-US" sz="1200" dirty="0"/>
          </a:p>
        </p:txBody>
      </p:sp>
      <p:sp>
        <p:nvSpPr>
          <p:cNvPr id="42" name="Text 7"/>
          <p:cNvSpPr/>
          <p:nvPr/>
        </p:nvSpPr>
        <p:spPr>
          <a:xfrm>
            <a:off x="11119872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6주차</a:t>
            </a:r>
            <a:endParaRPr lang="en-US" sz="1200" dirty="0"/>
          </a:p>
        </p:txBody>
      </p:sp>
      <p:sp>
        <p:nvSpPr>
          <p:cNvPr id="43" name="Text 8"/>
          <p:cNvSpPr/>
          <p:nvPr/>
        </p:nvSpPr>
        <p:spPr>
          <a:xfrm>
            <a:off x="1028700" y="3057525"/>
            <a:ext cx="12701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44" name="Text 9"/>
          <p:cNvSpPr/>
          <p:nvPr/>
        </p:nvSpPr>
        <p:spPr>
          <a:xfrm>
            <a:off x="952500" y="3419475"/>
            <a:ext cx="14326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5" name="Text 10"/>
          <p:cNvSpPr/>
          <p:nvPr/>
        </p:nvSpPr>
        <p:spPr>
          <a:xfrm>
            <a:off x="952500" y="3724275"/>
            <a:ext cx="239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6" name="Text 11"/>
          <p:cNvSpPr/>
          <p:nvPr/>
        </p:nvSpPr>
        <p:spPr>
          <a:xfrm>
            <a:off x="952500" y="4029075"/>
            <a:ext cx="17884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7" name="Text 12"/>
          <p:cNvSpPr/>
          <p:nvPr/>
        </p:nvSpPr>
        <p:spPr>
          <a:xfrm>
            <a:off x="4838700" y="3057525"/>
            <a:ext cx="977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48" name="Text 13"/>
          <p:cNvSpPr/>
          <p:nvPr/>
        </p:nvSpPr>
        <p:spPr>
          <a:xfrm>
            <a:off x="4762500" y="3419475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9" name="Text 14"/>
          <p:cNvSpPr/>
          <p:nvPr/>
        </p:nvSpPr>
        <p:spPr>
          <a:xfrm>
            <a:off x="4878004" y="3724275"/>
            <a:ext cx="2225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0" name="Text 15"/>
          <p:cNvSpPr/>
          <p:nvPr/>
        </p:nvSpPr>
        <p:spPr>
          <a:xfrm>
            <a:off x="4762500" y="4029075"/>
            <a:ext cx="1930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8648700" y="3057525"/>
            <a:ext cx="14987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52" name="Text 17"/>
          <p:cNvSpPr/>
          <p:nvPr/>
        </p:nvSpPr>
        <p:spPr>
          <a:xfrm>
            <a:off x="8572500" y="3419475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3" name="Text 18"/>
          <p:cNvSpPr/>
          <p:nvPr/>
        </p:nvSpPr>
        <p:spPr>
          <a:xfrm>
            <a:off x="8572500" y="3724275"/>
            <a:ext cx="156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4" name="Text 19"/>
          <p:cNvSpPr/>
          <p:nvPr/>
        </p:nvSpPr>
        <p:spPr>
          <a:xfrm>
            <a:off x="8572500" y="4029075"/>
            <a:ext cx="19813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5" name="Text 20"/>
          <p:cNvSpPr/>
          <p:nvPr/>
        </p:nvSpPr>
        <p:spPr>
          <a:xfrm>
            <a:off x="914400" y="4886325"/>
            <a:ext cx="75796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6" name="Text 21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8</a:t>
            </a:r>
            <a:endParaRPr 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F5AB67-C236-150C-7847-88A426DBCE47}"/>
              </a:ext>
            </a:extLst>
          </p:cNvPr>
          <p:cNvSpPr txBox="1"/>
          <p:nvPr/>
        </p:nvSpPr>
        <p:spPr>
          <a:xfrm>
            <a:off x="223421" y="2667000"/>
            <a:ext cx="118299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1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~2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ko-KR" altLang="en-US" sz="2400" dirty="0">
                <a:solidFill>
                  <a:schemeClr val="bg1"/>
                </a:solidFill>
              </a:rPr>
              <a:t>자료를 기반으로 한 </a:t>
            </a:r>
            <a:r>
              <a:rPr lang="en-US" altLang="ko-KR" sz="2400" dirty="0">
                <a:solidFill>
                  <a:schemeClr val="bg1"/>
                </a:solidFill>
              </a:rPr>
              <a:t>RAG </a:t>
            </a:r>
            <a:r>
              <a:rPr lang="ko-KR" altLang="en-US" sz="2400" dirty="0">
                <a:solidFill>
                  <a:schemeClr val="bg1"/>
                </a:solidFill>
              </a:rPr>
              <a:t>구축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		2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ko-KR" altLang="en-US" sz="2400" dirty="0">
                <a:solidFill>
                  <a:schemeClr val="bg1"/>
                </a:solidFill>
              </a:rPr>
              <a:t>증상에 따라 필요한 영양제 추천 로직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구현</a:t>
            </a:r>
            <a:r>
              <a:rPr lang="en-US" altLang="ko-KR" sz="24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2400" dirty="0">
                <a:solidFill>
                  <a:schemeClr val="bg1"/>
                </a:solidFill>
              </a:rPr>
              <a:t>			           3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ko-KR" altLang="en-US" sz="2400" dirty="0">
                <a:solidFill>
                  <a:schemeClr val="bg1"/>
                </a:solidFill>
              </a:rPr>
              <a:t>심평원</a:t>
            </a:r>
            <a:r>
              <a:rPr lang="en-US" altLang="ko-KR" sz="2400" dirty="0">
                <a:solidFill>
                  <a:schemeClr val="bg1"/>
                </a:solidFill>
              </a:rPr>
              <a:t>/</a:t>
            </a:r>
            <a:r>
              <a:rPr lang="ko-KR" altLang="en-US" sz="2400" dirty="0" err="1">
                <a:solidFill>
                  <a:schemeClr val="bg1"/>
                </a:solidFill>
              </a:rPr>
              <a:t>식약처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en" altLang="ko-KR" sz="2400" dirty="0">
                <a:solidFill>
                  <a:schemeClr val="bg1"/>
                </a:solidFill>
              </a:rPr>
              <a:t>API </a:t>
            </a:r>
            <a:r>
              <a:rPr lang="ko-KR" altLang="en-US" sz="2400" dirty="0">
                <a:solidFill>
                  <a:schemeClr val="bg1"/>
                </a:solidFill>
              </a:rPr>
              <a:t>연동을 통해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검토 로직 구현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					   4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en" altLang="ko-KR" sz="2400" dirty="0">
                <a:solidFill>
                  <a:schemeClr val="bg1"/>
                </a:solidFill>
              </a:rPr>
              <a:t>UI</a:t>
            </a:r>
            <a:r>
              <a:rPr lang="en-US" altLang="ko-KR" sz="2400" dirty="0">
                <a:solidFill>
                  <a:schemeClr val="bg1"/>
                </a:solidFill>
              </a:rPr>
              <a:t>(</a:t>
            </a:r>
            <a:r>
              <a:rPr lang="en-US" altLang="ko-KR" sz="2400" dirty="0" err="1">
                <a:solidFill>
                  <a:schemeClr val="bg1"/>
                </a:solidFill>
              </a:rPr>
              <a:t>streamlit</a:t>
            </a:r>
            <a:r>
              <a:rPr lang="en-US" altLang="ko-KR" sz="2400" dirty="0">
                <a:solidFill>
                  <a:schemeClr val="bg1"/>
                </a:solidFill>
              </a:rPr>
              <a:t>)</a:t>
            </a:r>
            <a:r>
              <a:rPr lang="en" altLang="ko-KR" sz="2400" dirty="0">
                <a:solidFill>
                  <a:schemeClr val="bg1"/>
                </a:solidFill>
              </a:rPr>
              <a:t>/UX </a:t>
            </a:r>
            <a:r>
              <a:rPr lang="ko-KR" altLang="en-US" sz="2400" dirty="0">
                <a:solidFill>
                  <a:schemeClr val="bg1"/>
                </a:solidFill>
              </a:rPr>
              <a:t>개발과 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</a:rPr>
              <a:t>백엔드</a:t>
            </a:r>
            <a:r>
              <a:rPr lang="ko-KR" altLang="en-US" sz="2400" dirty="0">
                <a:solidFill>
                  <a:schemeClr val="bg1"/>
                </a:solidFill>
              </a:rPr>
              <a:t> 연동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									5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ko-KR" altLang="en-US" sz="2400" dirty="0">
                <a:solidFill>
                  <a:schemeClr val="bg1"/>
                </a:solidFill>
              </a:rPr>
              <a:t>수정 및 개선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								   	            6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ko-KR" altLang="en-US" sz="2400" dirty="0">
                <a:solidFill>
                  <a:schemeClr val="bg1"/>
                </a:solidFill>
              </a:rPr>
              <a:t>성능 최적화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5BAC9A-EDC4-68FE-E88B-6CC9C4BB11C1}"/>
              </a:ext>
            </a:extLst>
          </p:cNvPr>
          <p:cNvSpPr txBox="1"/>
          <p:nvPr/>
        </p:nvSpPr>
        <p:spPr>
          <a:xfrm>
            <a:off x="2913320" y="3281639"/>
            <a:ext cx="94204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궁극적 목표</a:t>
            </a:r>
            <a:r>
              <a:rPr kumimoji="1" lang="en-US" altLang="ko-KR" dirty="0"/>
              <a:t>:</a:t>
            </a:r>
          </a:p>
          <a:p>
            <a:r>
              <a:rPr lang="ko-KR" altLang="en-US" dirty="0"/>
              <a:t>환자의 증상이 너무 모호할 때 병원을 가지 않고 </a:t>
            </a:r>
            <a:r>
              <a:rPr lang="en" altLang="ko-KR" dirty="0"/>
              <a:t>LLM</a:t>
            </a:r>
            <a:r>
              <a:rPr lang="ko-KR" altLang="en-US" dirty="0"/>
              <a:t>을 통해 증상을 알 수 있다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dirty="0"/>
              <a:t>그 증상에 맞는 영양제를 </a:t>
            </a:r>
            <a:r>
              <a:rPr lang="ko-KR" altLang="en-US" dirty="0" err="1"/>
              <a:t>알아야하는데</a:t>
            </a:r>
            <a:r>
              <a:rPr lang="ko-KR" altLang="en-US" dirty="0"/>
              <a:t> 사용자가  거기에 맞는 영양제를 찾아내기에 </a:t>
            </a:r>
            <a:endParaRPr lang="en-US" altLang="ko-KR" dirty="0"/>
          </a:p>
          <a:p>
            <a:r>
              <a:rPr lang="ko-KR" altLang="en-US" dirty="0"/>
              <a:t>너무 양이 많고 쓸데없는 지식이 많음</a:t>
            </a:r>
            <a:r>
              <a:rPr lang="en-US" altLang="ko-KR" dirty="0"/>
              <a:t>. </a:t>
            </a:r>
            <a:r>
              <a:rPr lang="ko-KR" altLang="en-US" dirty="0"/>
              <a:t>사용자는 효능만 </a:t>
            </a:r>
            <a:r>
              <a:rPr lang="ko-KR" altLang="en-US" dirty="0" err="1"/>
              <a:t>알고싶어함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필요한 영양제만 알 수 </a:t>
            </a:r>
            <a:r>
              <a:rPr lang="ko-KR" altLang="en-US" dirty="0" err="1"/>
              <a:t>있게하고</a:t>
            </a:r>
            <a:r>
              <a:rPr lang="ko-KR" altLang="en-US" dirty="0"/>
              <a:t> 안전성을 고려해 같이 복용하면 안되는 것만 추천함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결론적으로 병원을 </a:t>
            </a:r>
            <a:r>
              <a:rPr lang="ko-KR" altLang="en-US" dirty="0" err="1"/>
              <a:t>가지않고</a:t>
            </a:r>
            <a:r>
              <a:rPr lang="ko-KR" altLang="en-US" dirty="0"/>
              <a:t> 현재 사용자의 건강 상태에 맞는 영양제를 추천하는 서비스</a:t>
            </a:r>
            <a:r>
              <a:rPr lang="en-US" altLang="ko-KR" dirty="0"/>
              <a:t>.</a:t>
            </a:r>
            <a:r>
              <a:rPr lang="ko-KR" altLang="en-US" dirty="0"/>
              <a:t> </a:t>
            </a:r>
          </a:p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3BE7C-33B6-5F6A-C322-2EB57E900C90}"/>
              </a:ext>
            </a:extLst>
          </p:cNvPr>
          <p:cNvSpPr txBox="1"/>
          <p:nvPr/>
        </p:nvSpPr>
        <p:spPr>
          <a:xfrm>
            <a:off x="4827180" y="1950253"/>
            <a:ext cx="1488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4000" dirty="0"/>
              <a:t>Q &amp; A</a:t>
            </a:r>
            <a:endParaRPr kumimoji="1"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754000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819</Words>
  <Application>Microsoft Macintosh PowerPoint</Application>
  <PresentationFormat>와이드스크린</PresentationFormat>
  <Paragraphs>153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김준영</cp:lastModifiedBy>
  <cp:revision>5</cp:revision>
  <dcterms:created xsi:type="dcterms:W3CDTF">2025-11-02T09:22:12Z</dcterms:created>
  <dcterms:modified xsi:type="dcterms:W3CDTF">2025-11-02T12:46:35Z</dcterms:modified>
</cp:coreProperties>
</file>