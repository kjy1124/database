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447"/>
    <p:restoredTop sz="94626"/>
  </p:normalViewPr>
  <p:slideViewPr>
    <p:cSldViewPr snapToGrid="0" snapToObjects="1">
      <p:cViewPr varScale="1">
        <p:scale>
          <a:sx n="116" d="100"/>
          <a:sy n="116" d="100"/>
        </p:scale>
        <p:origin x="200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88983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18" Type="http://schemas.openxmlformats.org/officeDocument/2006/relationships/image" Target="../media/image19.pn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17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png"/><Relationship Id="rId18" Type="http://schemas.openxmlformats.org/officeDocument/2006/relationships/image" Target="../media/image31.png"/><Relationship Id="rId26" Type="http://schemas.openxmlformats.org/officeDocument/2006/relationships/image" Target="../media/image39.png"/><Relationship Id="rId3" Type="http://schemas.openxmlformats.org/officeDocument/2006/relationships/image" Target="../media/image1.png"/><Relationship Id="rId21" Type="http://schemas.openxmlformats.org/officeDocument/2006/relationships/image" Target="../media/image34.pn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17" Type="http://schemas.openxmlformats.org/officeDocument/2006/relationships/image" Target="../media/image30.png"/><Relationship Id="rId25" Type="http://schemas.openxmlformats.org/officeDocument/2006/relationships/image" Target="../media/image38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29.png"/><Relationship Id="rId20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24.png"/><Relationship Id="rId24" Type="http://schemas.openxmlformats.org/officeDocument/2006/relationships/image" Target="../media/image37.png"/><Relationship Id="rId5" Type="http://schemas.openxmlformats.org/officeDocument/2006/relationships/image" Target="../media/image6.png"/><Relationship Id="rId15" Type="http://schemas.openxmlformats.org/officeDocument/2006/relationships/image" Target="../media/image28.png"/><Relationship Id="rId23" Type="http://schemas.openxmlformats.org/officeDocument/2006/relationships/image" Target="../media/image36.png"/><Relationship Id="rId10" Type="http://schemas.openxmlformats.org/officeDocument/2006/relationships/image" Target="../media/image23.png"/><Relationship Id="rId19" Type="http://schemas.openxmlformats.org/officeDocument/2006/relationships/image" Target="../media/image32.png"/><Relationship Id="rId4" Type="http://schemas.openxmlformats.org/officeDocument/2006/relationships/image" Target="../media/image5.png"/><Relationship Id="rId9" Type="http://schemas.openxmlformats.org/officeDocument/2006/relationships/image" Target="../media/image22.png"/><Relationship Id="rId14" Type="http://schemas.openxmlformats.org/officeDocument/2006/relationships/image" Target="../media/image27.png"/><Relationship Id="rId22" Type="http://schemas.openxmlformats.org/officeDocument/2006/relationships/image" Target="../media/image3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13" Type="http://schemas.openxmlformats.org/officeDocument/2006/relationships/image" Target="../media/image46.png"/><Relationship Id="rId3" Type="http://schemas.openxmlformats.org/officeDocument/2006/relationships/image" Target="../media/image1.png"/><Relationship Id="rId7" Type="http://schemas.openxmlformats.org/officeDocument/2006/relationships/image" Target="../media/image40.png"/><Relationship Id="rId12" Type="http://schemas.openxmlformats.org/officeDocument/2006/relationships/image" Target="../media/image4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44.png"/><Relationship Id="rId5" Type="http://schemas.openxmlformats.org/officeDocument/2006/relationships/image" Target="../media/image6.png"/><Relationship Id="rId10" Type="http://schemas.openxmlformats.org/officeDocument/2006/relationships/image" Target="../media/image43.png"/><Relationship Id="rId4" Type="http://schemas.openxmlformats.org/officeDocument/2006/relationships/image" Target="../media/image5.png"/><Relationship Id="rId9" Type="http://schemas.openxmlformats.org/officeDocument/2006/relationships/image" Target="../media/image42.png"/><Relationship Id="rId14" Type="http://schemas.openxmlformats.org/officeDocument/2006/relationships/image" Target="../media/image4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13" Type="http://schemas.openxmlformats.org/officeDocument/2006/relationships/image" Target="../media/image54.png"/><Relationship Id="rId18" Type="http://schemas.openxmlformats.org/officeDocument/2006/relationships/image" Target="../media/image59.png"/><Relationship Id="rId3" Type="http://schemas.openxmlformats.org/officeDocument/2006/relationships/image" Target="../media/image1.png"/><Relationship Id="rId21" Type="http://schemas.openxmlformats.org/officeDocument/2006/relationships/image" Target="../media/image62.png"/><Relationship Id="rId7" Type="http://schemas.openxmlformats.org/officeDocument/2006/relationships/image" Target="../media/image48.png"/><Relationship Id="rId12" Type="http://schemas.openxmlformats.org/officeDocument/2006/relationships/image" Target="../media/image53.png"/><Relationship Id="rId17" Type="http://schemas.openxmlformats.org/officeDocument/2006/relationships/image" Target="../media/image58.png"/><Relationship Id="rId25" Type="http://schemas.openxmlformats.org/officeDocument/2006/relationships/image" Target="../media/image66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57.png"/><Relationship Id="rId20" Type="http://schemas.openxmlformats.org/officeDocument/2006/relationships/image" Target="../media/image6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52.png"/><Relationship Id="rId24" Type="http://schemas.openxmlformats.org/officeDocument/2006/relationships/image" Target="../media/image65.png"/><Relationship Id="rId5" Type="http://schemas.openxmlformats.org/officeDocument/2006/relationships/image" Target="../media/image6.png"/><Relationship Id="rId15" Type="http://schemas.openxmlformats.org/officeDocument/2006/relationships/image" Target="../media/image56.png"/><Relationship Id="rId23" Type="http://schemas.openxmlformats.org/officeDocument/2006/relationships/image" Target="../media/image64.png"/><Relationship Id="rId10" Type="http://schemas.openxmlformats.org/officeDocument/2006/relationships/image" Target="../media/image51.png"/><Relationship Id="rId19" Type="http://schemas.openxmlformats.org/officeDocument/2006/relationships/image" Target="../media/image60.png"/><Relationship Id="rId4" Type="http://schemas.openxmlformats.org/officeDocument/2006/relationships/image" Target="../media/image5.png"/><Relationship Id="rId9" Type="http://schemas.openxmlformats.org/officeDocument/2006/relationships/image" Target="../media/image50.png"/><Relationship Id="rId14" Type="http://schemas.openxmlformats.org/officeDocument/2006/relationships/image" Target="../media/image55.png"/><Relationship Id="rId22" Type="http://schemas.openxmlformats.org/officeDocument/2006/relationships/image" Target="../media/image6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13" Type="http://schemas.openxmlformats.org/officeDocument/2006/relationships/image" Target="../media/image73.png"/><Relationship Id="rId18" Type="http://schemas.openxmlformats.org/officeDocument/2006/relationships/image" Target="../media/image77.png"/><Relationship Id="rId3" Type="http://schemas.openxmlformats.org/officeDocument/2006/relationships/image" Target="../media/image1.png"/><Relationship Id="rId21" Type="http://schemas.openxmlformats.org/officeDocument/2006/relationships/image" Target="../media/image80.png"/><Relationship Id="rId7" Type="http://schemas.openxmlformats.org/officeDocument/2006/relationships/image" Target="../media/image67.png"/><Relationship Id="rId12" Type="http://schemas.openxmlformats.org/officeDocument/2006/relationships/image" Target="../media/image72.png"/><Relationship Id="rId17" Type="http://schemas.openxmlformats.org/officeDocument/2006/relationships/image" Target="../media/image76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75.png"/><Relationship Id="rId20" Type="http://schemas.openxmlformats.org/officeDocument/2006/relationships/image" Target="../media/image7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71.png"/><Relationship Id="rId5" Type="http://schemas.openxmlformats.org/officeDocument/2006/relationships/image" Target="../media/image6.png"/><Relationship Id="rId15" Type="http://schemas.openxmlformats.org/officeDocument/2006/relationships/image" Target="../media/image74.png"/><Relationship Id="rId10" Type="http://schemas.openxmlformats.org/officeDocument/2006/relationships/image" Target="../media/image70.png"/><Relationship Id="rId19" Type="http://schemas.openxmlformats.org/officeDocument/2006/relationships/image" Target="../media/image78.png"/><Relationship Id="rId4" Type="http://schemas.openxmlformats.org/officeDocument/2006/relationships/image" Target="../media/image5.png"/><Relationship Id="rId9" Type="http://schemas.openxmlformats.org/officeDocument/2006/relationships/image" Target="../media/image69.png"/><Relationship Id="rId14" Type="http://schemas.openxmlformats.org/officeDocument/2006/relationships/image" Target="../media/image3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png"/><Relationship Id="rId13" Type="http://schemas.openxmlformats.org/officeDocument/2006/relationships/image" Target="../media/image87.png"/><Relationship Id="rId18" Type="http://schemas.openxmlformats.org/officeDocument/2006/relationships/image" Target="../media/image92.png"/><Relationship Id="rId26" Type="http://schemas.openxmlformats.org/officeDocument/2006/relationships/image" Target="../media/image11.png"/><Relationship Id="rId3" Type="http://schemas.openxmlformats.org/officeDocument/2006/relationships/image" Target="../media/image1.png"/><Relationship Id="rId21" Type="http://schemas.openxmlformats.org/officeDocument/2006/relationships/image" Target="../media/image95.png"/><Relationship Id="rId7" Type="http://schemas.openxmlformats.org/officeDocument/2006/relationships/image" Target="../media/image81.png"/><Relationship Id="rId12" Type="http://schemas.openxmlformats.org/officeDocument/2006/relationships/image" Target="../media/image86.png"/><Relationship Id="rId17" Type="http://schemas.openxmlformats.org/officeDocument/2006/relationships/image" Target="../media/image91.png"/><Relationship Id="rId25" Type="http://schemas.openxmlformats.org/officeDocument/2006/relationships/image" Target="../media/image99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90.png"/><Relationship Id="rId20" Type="http://schemas.openxmlformats.org/officeDocument/2006/relationships/image" Target="../media/image9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85.png"/><Relationship Id="rId24" Type="http://schemas.openxmlformats.org/officeDocument/2006/relationships/image" Target="../media/image98.png"/><Relationship Id="rId5" Type="http://schemas.openxmlformats.org/officeDocument/2006/relationships/image" Target="../media/image6.png"/><Relationship Id="rId15" Type="http://schemas.openxmlformats.org/officeDocument/2006/relationships/image" Target="../media/image89.png"/><Relationship Id="rId23" Type="http://schemas.openxmlformats.org/officeDocument/2006/relationships/image" Target="../media/image97.png"/><Relationship Id="rId10" Type="http://schemas.openxmlformats.org/officeDocument/2006/relationships/image" Target="../media/image84.png"/><Relationship Id="rId19" Type="http://schemas.openxmlformats.org/officeDocument/2006/relationships/image" Target="../media/image93.png"/><Relationship Id="rId4" Type="http://schemas.openxmlformats.org/officeDocument/2006/relationships/image" Target="../media/image5.png"/><Relationship Id="rId9" Type="http://schemas.openxmlformats.org/officeDocument/2006/relationships/image" Target="../media/image83.png"/><Relationship Id="rId14" Type="http://schemas.openxmlformats.org/officeDocument/2006/relationships/image" Target="../media/image88.png"/><Relationship Id="rId22" Type="http://schemas.openxmlformats.org/officeDocument/2006/relationships/image" Target="../media/image9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1.png"/><Relationship Id="rId13" Type="http://schemas.openxmlformats.org/officeDocument/2006/relationships/image" Target="../media/image106.png"/><Relationship Id="rId3" Type="http://schemas.openxmlformats.org/officeDocument/2006/relationships/image" Target="../media/image1.png"/><Relationship Id="rId7" Type="http://schemas.openxmlformats.org/officeDocument/2006/relationships/image" Target="../media/image100.png"/><Relationship Id="rId12" Type="http://schemas.openxmlformats.org/officeDocument/2006/relationships/image" Target="../media/image10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04.png"/><Relationship Id="rId5" Type="http://schemas.openxmlformats.org/officeDocument/2006/relationships/image" Target="../media/image6.png"/><Relationship Id="rId10" Type="http://schemas.openxmlformats.org/officeDocument/2006/relationships/image" Target="../media/image103.png"/><Relationship Id="rId4" Type="http://schemas.openxmlformats.org/officeDocument/2006/relationships/image" Target="../media/image5.png"/><Relationship Id="rId9" Type="http://schemas.openxmlformats.org/officeDocument/2006/relationships/image" Target="../media/image102.png"/><Relationship Id="rId14" Type="http://schemas.openxmlformats.org/officeDocument/2006/relationships/image" Target="../media/image107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49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0" y="0"/>
            <a:ext cx="3810000" cy="33337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250" y="952500"/>
            <a:ext cx="1905000" cy="19050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24351" y="3162300"/>
            <a:ext cx="1143000" cy="38100"/>
          </a:xfrm>
          <a:prstGeom prst="rect">
            <a:avLst/>
          </a:prstGeom>
        </p:spPr>
      </p:pic>
      <p:sp>
        <p:nvSpPr>
          <p:cNvPr id="12" name="Text 0"/>
          <p:cNvSpPr/>
          <p:nvPr/>
        </p:nvSpPr>
        <p:spPr>
          <a:xfrm>
            <a:off x="1358950" y="2095500"/>
            <a:ext cx="9473952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endParaRPr lang="en-US" sz="1350" dirty="0"/>
          </a:p>
        </p:txBody>
      </p:sp>
      <p:sp>
        <p:nvSpPr>
          <p:cNvPr id="13" name="Text 1"/>
          <p:cNvSpPr/>
          <p:nvPr/>
        </p:nvSpPr>
        <p:spPr>
          <a:xfrm>
            <a:off x="411554" y="1210615"/>
            <a:ext cx="11368742" cy="374775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ctr">
              <a:lnSpc>
                <a:spcPts val="3600"/>
              </a:lnSpc>
            </a:pPr>
            <a:endParaRPr lang="en-US" altLang="ko-KR" sz="3600" b="1" dirty="0">
              <a:solidFill>
                <a:srgbClr val="FFFFFF"/>
              </a:solidFill>
              <a:latin typeface="Segoe UI" pitchFamily="34" charset="0"/>
              <a:ea typeface="Segoe UI" pitchFamily="34" charset="-122"/>
              <a:cs typeface="Segoe UI" pitchFamily="34" charset="-120"/>
            </a:endParaRPr>
          </a:p>
          <a:p>
            <a:pPr algn="ctr">
              <a:lnSpc>
                <a:spcPts val="3600"/>
              </a:lnSpc>
            </a:pPr>
            <a:r>
              <a:rPr lang="en-US" altLang="ko-KR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20220311</a:t>
            </a:r>
            <a:r>
              <a:rPr lang="ko-KR" alt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인공지능학과 김준영</a:t>
            </a:r>
            <a:endParaRPr lang="en-US" altLang="ko-KR" sz="3600" b="1" dirty="0">
              <a:solidFill>
                <a:srgbClr val="FFFFFF"/>
              </a:solidFill>
              <a:latin typeface="Segoe UI" pitchFamily="34" charset="0"/>
              <a:ea typeface="Segoe UI" pitchFamily="34" charset="-122"/>
              <a:cs typeface="Segoe UI" pitchFamily="34" charset="-120"/>
            </a:endParaRPr>
          </a:p>
          <a:p>
            <a:pPr algn="ctr">
              <a:lnSpc>
                <a:spcPts val="3600"/>
              </a:lnSpc>
            </a:pPr>
            <a:endParaRPr lang="en-US" altLang="ko-KR" sz="3600" b="1" dirty="0">
              <a:solidFill>
                <a:srgbClr val="FFFFFF"/>
              </a:solidFill>
              <a:latin typeface="Segoe UI" pitchFamily="34" charset="0"/>
              <a:ea typeface="Segoe UI" pitchFamily="34" charset="-122"/>
              <a:cs typeface="Segoe UI" pitchFamily="34" charset="-120"/>
            </a:endParaRPr>
          </a:p>
          <a:p>
            <a:pPr algn="ctr">
              <a:lnSpc>
                <a:spcPts val="3600"/>
              </a:lnSpc>
            </a:pPr>
            <a:endParaRPr lang="en-US" altLang="ko-KR" sz="3600" b="1" dirty="0">
              <a:solidFill>
                <a:srgbClr val="FFFFFF"/>
              </a:solidFill>
              <a:latin typeface="Segoe UI" pitchFamily="34" charset="0"/>
              <a:ea typeface="Segoe UI" pitchFamily="34" charset="-122"/>
              <a:cs typeface="Segoe UI" pitchFamily="34" charset="-120"/>
            </a:endParaRPr>
          </a:p>
          <a:p>
            <a:pPr algn="ctr">
              <a:lnSpc>
                <a:spcPts val="3600"/>
              </a:lnSpc>
            </a:pPr>
            <a:r>
              <a:rPr lang="en-US" altLang="ko-KR" sz="3600" b="1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사용자</a:t>
            </a:r>
            <a:r>
              <a:rPr lang="en-US" altLang="ko-KR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altLang="ko-KR" sz="3600" b="1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맞춤형</a:t>
            </a:r>
            <a:r>
              <a:rPr lang="en-US" altLang="ko-KR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altLang="ko-KR" sz="3600" b="1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영양제</a:t>
            </a:r>
            <a:r>
              <a:rPr lang="en-US" altLang="ko-KR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altLang="ko-KR" sz="3600" b="1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추천</a:t>
            </a:r>
            <a:r>
              <a:rPr lang="en-US" altLang="ko-KR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altLang="ko-KR" sz="3600" b="1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서비스</a:t>
            </a:r>
            <a:endParaRPr lang="en-US" altLang="ko-KR" sz="3600" b="1" dirty="0">
              <a:solidFill>
                <a:srgbClr val="FFFFFF"/>
              </a:solidFill>
              <a:latin typeface="Segoe UI" pitchFamily="34" charset="0"/>
              <a:ea typeface="Segoe UI" pitchFamily="34" charset="-122"/>
              <a:cs typeface="Segoe UI" pitchFamily="34" charset="-120"/>
            </a:endParaRPr>
          </a:p>
          <a:p>
            <a:pPr algn="ctr">
              <a:lnSpc>
                <a:spcPts val="3600"/>
              </a:lnSpc>
            </a:pPr>
            <a:endParaRPr lang="en-US" altLang="ko-KR" sz="3600" b="1" dirty="0">
              <a:solidFill>
                <a:srgbClr val="FFFFFF"/>
              </a:solidFill>
              <a:latin typeface="Segoe UI" pitchFamily="34" charset="0"/>
              <a:cs typeface="Segoe UI" pitchFamily="34" charset="-120"/>
            </a:endParaRPr>
          </a:p>
          <a:p>
            <a:pPr algn="ctr">
              <a:lnSpc>
                <a:spcPts val="3600"/>
              </a:lnSpc>
            </a:pPr>
            <a:endParaRPr lang="en-US" altLang="ko-KR" sz="3600" b="1" dirty="0">
              <a:solidFill>
                <a:srgbClr val="FFFFFF"/>
              </a:solidFill>
              <a:latin typeface="Segoe UI" pitchFamily="34" charset="0"/>
              <a:ea typeface="Segoe UI" pitchFamily="34" charset="-122"/>
              <a:cs typeface="Segoe UI" pitchFamily="34" charset="-120"/>
            </a:endParaRPr>
          </a:p>
          <a:p>
            <a:pPr marL="0" indent="0" algn="ctr">
              <a:lnSpc>
                <a:spcPts val="3600"/>
              </a:lnSpc>
              <a:buNone/>
            </a:pPr>
            <a:endParaRPr lang="en-US" sz="3600" dirty="0"/>
          </a:p>
        </p:txBody>
      </p:sp>
      <p:sp>
        <p:nvSpPr>
          <p:cNvPr id="14" name="Text 2"/>
          <p:cNvSpPr/>
          <p:nvPr/>
        </p:nvSpPr>
        <p:spPr>
          <a:xfrm>
            <a:off x="423911" y="3390900"/>
            <a:ext cx="11368742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endParaRPr lang="en-US" sz="1800" dirty="0"/>
          </a:p>
        </p:txBody>
      </p:sp>
      <p:sp>
        <p:nvSpPr>
          <p:cNvPr id="16" name="Text 4"/>
          <p:cNvSpPr/>
          <p:nvPr/>
        </p:nvSpPr>
        <p:spPr>
          <a:xfrm>
            <a:off x="838200" y="6248400"/>
            <a:ext cx="179843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endParaRPr lang="en-US" sz="1200" dirty="0"/>
          </a:p>
        </p:txBody>
      </p:sp>
      <p:sp>
        <p:nvSpPr>
          <p:cNvPr id="17" name="Text 5"/>
          <p:cNvSpPr/>
          <p:nvPr/>
        </p:nvSpPr>
        <p:spPr>
          <a:xfrm>
            <a:off x="10278517" y="6248400"/>
            <a:ext cx="15646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endParaRPr lang="en-US" sz="1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FABFD1-791C-E842-210F-EBC4AD1ABC23}"/>
              </a:ext>
            </a:extLst>
          </p:cNvPr>
          <p:cNvSpPr txBox="1"/>
          <p:nvPr/>
        </p:nvSpPr>
        <p:spPr>
          <a:xfrm>
            <a:off x="3263770" y="4318555"/>
            <a:ext cx="872230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dirty="0">
                <a:solidFill>
                  <a:schemeClr val="bg1"/>
                </a:solidFill>
              </a:rPr>
              <a:t>궁극적 목표</a:t>
            </a:r>
            <a:r>
              <a:rPr kumimoji="1" lang="en-US" altLang="ko-KR" dirty="0">
                <a:solidFill>
                  <a:schemeClr val="bg1"/>
                </a:solidFill>
              </a:rPr>
              <a:t>:</a:t>
            </a:r>
          </a:p>
          <a:p>
            <a:r>
              <a:rPr lang="ko-KR" altLang="en-US" dirty="0">
                <a:solidFill>
                  <a:schemeClr val="bg1"/>
                </a:solidFill>
              </a:rPr>
              <a:t>환자의 증상이 너무 모호할 때 병원을 가지 않고 </a:t>
            </a:r>
            <a:r>
              <a:rPr lang="en" altLang="ko-KR" dirty="0">
                <a:solidFill>
                  <a:schemeClr val="bg1"/>
                </a:solidFill>
              </a:rPr>
              <a:t>LLM</a:t>
            </a:r>
            <a:r>
              <a:rPr lang="ko-KR" altLang="en-US" dirty="0">
                <a:solidFill>
                  <a:schemeClr val="bg1"/>
                </a:solidFill>
              </a:rPr>
              <a:t>을 통해 증상을 알 수 있다</a:t>
            </a:r>
            <a:r>
              <a:rPr lang="en-US" altLang="ko-KR" dirty="0">
                <a:solidFill>
                  <a:schemeClr val="bg1"/>
                </a:solidFill>
              </a:rPr>
              <a:t>.</a:t>
            </a:r>
            <a:endParaRPr lang="ko-KR" altLang="en-US" dirty="0">
              <a:solidFill>
                <a:schemeClr val="bg1"/>
              </a:solidFill>
            </a:endParaRPr>
          </a:p>
          <a:p>
            <a:r>
              <a:rPr lang="ko-KR" altLang="en-US" dirty="0">
                <a:solidFill>
                  <a:schemeClr val="bg1"/>
                </a:solidFill>
              </a:rPr>
              <a:t>그 증상에 맞는 영양제를 </a:t>
            </a:r>
            <a:r>
              <a:rPr lang="ko-KR" altLang="en-US" dirty="0" err="1">
                <a:solidFill>
                  <a:schemeClr val="bg1"/>
                </a:solidFill>
              </a:rPr>
              <a:t>알아야하는데</a:t>
            </a:r>
            <a:r>
              <a:rPr lang="ko-KR" altLang="en-US" dirty="0">
                <a:solidFill>
                  <a:schemeClr val="bg1"/>
                </a:solidFill>
              </a:rPr>
              <a:t> 사용자가  거기에 맞는 영양제를 찾아내기에 </a:t>
            </a:r>
            <a:endParaRPr lang="en-US" altLang="ko-KR" dirty="0">
              <a:solidFill>
                <a:schemeClr val="bg1"/>
              </a:solidFill>
            </a:endParaRPr>
          </a:p>
          <a:p>
            <a:r>
              <a:rPr lang="ko-KR" altLang="en-US" dirty="0">
                <a:solidFill>
                  <a:schemeClr val="bg1"/>
                </a:solidFill>
              </a:rPr>
              <a:t>너무 양이 많고 쓸데없는 지식이 많음</a:t>
            </a:r>
            <a:r>
              <a:rPr lang="en-US" altLang="ko-KR" dirty="0">
                <a:solidFill>
                  <a:schemeClr val="bg1"/>
                </a:solidFill>
              </a:rPr>
              <a:t>. </a:t>
            </a:r>
            <a:r>
              <a:rPr lang="ko-KR" altLang="en-US" dirty="0">
                <a:solidFill>
                  <a:schemeClr val="bg1"/>
                </a:solidFill>
              </a:rPr>
              <a:t>사용자는 효능만 </a:t>
            </a:r>
            <a:r>
              <a:rPr lang="ko-KR" altLang="en-US" dirty="0" err="1">
                <a:solidFill>
                  <a:schemeClr val="bg1"/>
                </a:solidFill>
              </a:rPr>
              <a:t>알고싶어함</a:t>
            </a:r>
            <a:r>
              <a:rPr lang="en-US" altLang="ko-KR" dirty="0">
                <a:solidFill>
                  <a:schemeClr val="bg1"/>
                </a:solidFill>
              </a:rPr>
              <a:t>.</a:t>
            </a:r>
          </a:p>
          <a:p>
            <a:r>
              <a:rPr lang="ko-KR" altLang="en-US" dirty="0">
                <a:solidFill>
                  <a:schemeClr val="bg1"/>
                </a:solidFill>
              </a:rPr>
              <a:t>따라서 필요한 영양제만 알 수 </a:t>
            </a:r>
            <a:r>
              <a:rPr lang="ko-KR" altLang="en-US" dirty="0" err="1">
                <a:solidFill>
                  <a:schemeClr val="bg1"/>
                </a:solidFill>
              </a:rPr>
              <a:t>있게하고</a:t>
            </a:r>
            <a:r>
              <a:rPr lang="ko-KR" altLang="en-US" dirty="0">
                <a:solidFill>
                  <a:schemeClr val="bg1"/>
                </a:solidFill>
              </a:rPr>
              <a:t> 안전성을 고려해 같이 복용하면 안되는 것만 추천함</a:t>
            </a:r>
            <a:r>
              <a:rPr lang="en-US" altLang="ko-KR" dirty="0">
                <a:solidFill>
                  <a:schemeClr val="bg1"/>
                </a:solidFill>
              </a:rPr>
              <a:t>.</a:t>
            </a:r>
          </a:p>
          <a:p>
            <a:r>
              <a:rPr lang="ko-KR" altLang="en-US" dirty="0">
                <a:solidFill>
                  <a:schemeClr val="bg1"/>
                </a:solidFill>
              </a:rPr>
              <a:t>결론적으로 병원을 </a:t>
            </a:r>
            <a:r>
              <a:rPr lang="ko-KR" altLang="en-US" dirty="0" err="1">
                <a:solidFill>
                  <a:schemeClr val="bg1"/>
                </a:solidFill>
              </a:rPr>
              <a:t>가지않고</a:t>
            </a:r>
            <a:r>
              <a:rPr lang="ko-KR" altLang="en-US" dirty="0">
                <a:solidFill>
                  <a:schemeClr val="bg1"/>
                </a:solidFill>
              </a:rPr>
              <a:t> 현재 사용자의 건강 상태에 맞는 영양제를 추천하는 서비스</a:t>
            </a:r>
            <a:endParaRPr kumimoji="1" lang="ko-KR" alt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4500" y="0"/>
            <a:ext cx="2857500" cy="2857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953000"/>
            <a:ext cx="1905000" cy="23812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914400"/>
            <a:ext cx="762000" cy="28575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6642" y="1047752"/>
            <a:ext cx="5524500" cy="4219572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" y="1476375"/>
            <a:ext cx="476250" cy="47625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9625" y="1562100"/>
            <a:ext cx="228600" cy="3048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5800" y="2181225"/>
            <a:ext cx="114300" cy="1524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5800" y="2600325"/>
            <a:ext cx="114300" cy="1524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5800" y="3019425"/>
            <a:ext cx="114300" cy="1524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5800" y="3629025"/>
            <a:ext cx="5067300" cy="7620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23900" y="3950326"/>
            <a:ext cx="114300" cy="1524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173792" y="1041955"/>
            <a:ext cx="5524500" cy="4103797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38900" y="1476375"/>
            <a:ext cx="476250" cy="47625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562725" y="1562100"/>
            <a:ext cx="228600" cy="3048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38900" y="2181225"/>
            <a:ext cx="114300" cy="1524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38900" y="2600325"/>
            <a:ext cx="114300" cy="1524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38900" y="3019425"/>
            <a:ext cx="114300" cy="1524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38900" y="3629025"/>
            <a:ext cx="5067300" cy="7620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591300" y="3933825"/>
            <a:ext cx="190500" cy="152400"/>
          </a:xfrm>
          <a:prstGeom prst="rect">
            <a:avLst/>
          </a:prstGeom>
        </p:spPr>
      </p:pic>
      <p:sp>
        <p:nvSpPr>
          <p:cNvPr id="22" name="Text 0"/>
          <p:cNvSpPr/>
          <p:nvPr/>
        </p:nvSpPr>
        <p:spPr>
          <a:xfrm>
            <a:off x="457200" y="457200"/>
            <a:ext cx="112776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시장 문제와 해결 방안</a:t>
            </a:r>
            <a:endParaRPr lang="en-US" sz="3600" dirty="0"/>
          </a:p>
        </p:txBody>
      </p:sp>
      <p:sp>
        <p:nvSpPr>
          <p:cNvPr id="23" name="Text 1"/>
          <p:cNvSpPr/>
          <p:nvPr/>
        </p:nvSpPr>
        <p:spPr>
          <a:xfrm>
            <a:off x="1314450" y="1562100"/>
            <a:ext cx="117354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문제 정의</a:t>
            </a:r>
            <a:endParaRPr lang="en-US" sz="2000" dirty="0"/>
          </a:p>
        </p:txBody>
      </p:sp>
      <p:sp>
        <p:nvSpPr>
          <p:cNvPr id="24" name="Text 2"/>
          <p:cNvSpPr/>
          <p:nvPr/>
        </p:nvSpPr>
        <p:spPr>
          <a:xfrm>
            <a:off x="914400" y="2105025"/>
            <a:ext cx="486935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사용자는 자신의 신체 상태를 정확히 판단하기 어려움</a:t>
            </a:r>
            <a:endParaRPr lang="en-US" sz="1350" dirty="0"/>
          </a:p>
        </p:txBody>
      </p:sp>
      <p:sp>
        <p:nvSpPr>
          <p:cNvPr id="25" name="Text 3"/>
          <p:cNvSpPr/>
          <p:nvPr/>
        </p:nvSpPr>
        <p:spPr>
          <a:xfrm>
            <a:off x="914400" y="2524125"/>
            <a:ext cx="372635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특정 증상과 질병을 </a:t>
            </a:r>
            <a:r>
              <a:rPr lang="en-US" sz="1350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연결짓기</a:t>
            </a: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350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어려운</a:t>
            </a: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350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경우가</a:t>
            </a: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350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많음</a:t>
            </a:r>
            <a:endParaRPr lang="en-US" sz="1350" dirty="0"/>
          </a:p>
        </p:txBody>
      </p:sp>
      <p:sp>
        <p:nvSpPr>
          <p:cNvPr id="26" name="Text 4"/>
          <p:cNvSpPr/>
          <p:nvPr/>
        </p:nvSpPr>
        <p:spPr>
          <a:xfrm>
            <a:off x="914400" y="2943225"/>
            <a:ext cx="48387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예: ”</a:t>
            </a:r>
            <a:r>
              <a:rPr lang="en-US" sz="1350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심장이</a:t>
            </a: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350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쿵쾅거림</a:t>
            </a: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r>
              <a:rPr lang="en-US" sz="1350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가끔</a:t>
            </a: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350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눈앞이</a:t>
            </a: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350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멍해짐</a:t>
            </a: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r>
              <a:rPr lang="en-US" sz="1350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감각이</a:t>
            </a: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350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이상함</a:t>
            </a:r>
            <a:r>
              <a:rPr lang="en-US" altLang="ko-KR" sz="1350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”</a:t>
            </a:r>
            <a:r>
              <a:rPr lang="en-US" sz="1350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과</a:t>
            </a: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</a:p>
          <a:p>
            <a:pPr marL="0" indent="0" algn="l">
              <a:lnSpc>
                <a:spcPts val="2100"/>
              </a:lnSpc>
              <a:buNone/>
            </a:pPr>
            <a:r>
              <a:rPr lang="en-US" sz="1350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같은</a:t>
            </a: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모호한 증상들을 스스로 </a:t>
            </a:r>
            <a:r>
              <a:rPr lang="en-US" sz="1350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진단하기</a:t>
            </a: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350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어려움</a:t>
            </a:r>
            <a:r>
              <a:rPr lang="en-US" altLang="ko-KR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350" dirty="0"/>
          </a:p>
        </p:txBody>
      </p:sp>
      <p:sp>
        <p:nvSpPr>
          <p:cNvPr id="27" name="Text 5"/>
          <p:cNvSpPr/>
          <p:nvPr/>
        </p:nvSpPr>
        <p:spPr>
          <a:xfrm>
            <a:off x="952500" y="3857625"/>
            <a:ext cx="45339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i="1" dirty="0" err="1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사용자는</a:t>
            </a:r>
            <a:r>
              <a:rPr lang="en-US" sz="1200" i="1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200" i="1" dirty="0" err="1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병원에</a:t>
            </a:r>
            <a:r>
              <a:rPr lang="en-US" sz="1200" i="1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200" i="1" dirty="0" err="1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가지</a:t>
            </a:r>
            <a:r>
              <a:rPr lang="en-US" sz="1200" i="1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200" i="1" dirty="0" err="1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않는</a:t>
            </a:r>
            <a:r>
              <a:rPr lang="en-US" sz="1200" i="1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200" i="1" dirty="0" err="1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이상</a:t>
            </a:r>
            <a:r>
              <a:rPr lang="en-US" sz="1200" i="1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200" i="1" dirty="0" err="1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자신의</a:t>
            </a:r>
            <a:r>
              <a:rPr lang="en-US" sz="1200" i="1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건강 상태를 정확히 파악하지 못하여 적절한 영양 보충제를 선택하기 어려움</a:t>
            </a:r>
            <a:endParaRPr lang="en-US" sz="1200" dirty="0"/>
          </a:p>
        </p:txBody>
      </p:sp>
      <p:sp>
        <p:nvSpPr>
          <p:cNvPr id="28" name="Text 6"/>
          <p:cNvSpPr/>
          <p:nvPr/>
        </p:nvSpPr>
        <p:spPr>
          <a:xfrm>
            <a:off x="7067550" y="1562100"/>
            <a:ext cx="117354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해결 방안</a:t>
            </a:r>
            <a:endParaRPr lang="en-US" sz="1800" dirty="0"/>
          </a:p>
        </p:txBody>
      </p:sp>
      <p:sp>
        <p:nvSpPr>
          <p:cNvPr id="29" name="Text 7"/>
          <p:cNvSpPr/>
          <p:nvPr/>
        </p:nvSpPr>
        <p:spPr>
          <a:xfrm>
            <a:off x="6667500" y="2105025"/>
            <a:ext cx="390923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LLM을</a:t>
            </a: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활용한 대안 제시</a:t>
            </a:r>
            <a:endParaRPr lang="en-US" sz="1350" dirty="0"/>
          </a:p>
        </p:txBody>
      </p:sp>
      <p:sp>
        <p:nvSpPr>
          <p:cNvPr id="30" name="Text 8"/>
          <p:cNvSpPr/>
          <p:nvPr/>
        </p:nvSpPr>
        <p:spPr>
          <a:xfrm>
            <a:off x="6667500" y="2524125"/>
            <a:ext cx="389780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병원 방문 대신 사용할 수 있는 솔루션 제공</a:t>
            </a:r>
            <a:endParaRPr lang="en-US" sz="1350" dirty="0"/>
          </a:p>
        </p:txBody>
      </p:sp>
      <p:sp>
        <p:nvSpPr>
          <p:cNvPr id="31" name="Text 9"/>
          <p:cNvSpPr/>
          <p:nvPr/>
        </p:nvSpPr>
        <p:spPr>
          <a:xfrm>
            <a:off x="6667500" y="2943225"/>
            <a:ext cx="425213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사용자의 증상에 맞춘 적절한 영양 보충제 추천</a:t>
            </a:r>
            <a:endParaRPr lang="en-US" sz="1350" dirty="0"/>
          </a:p>
        </p:txBody>
      </p:sp>
      <p:sp>
        <p:nvSpPr>
          <p:cNvPr id="32" name="Text 10"/>
          <p:cNvSpPr/>
          <p:nvPr/>
        </p:nvSpPr>
        <p:spPr>
          <a:xfrm>
            <a:off x="6896100" y="3781425"/>
            <a:ext cx="44577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i="1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LLM를 이용하여 사용자의 모호한 증상 분석하고, 전문적인 영양 보충제 추천 서비스 제공</a:t>
            </a:r>
            <a:endParaRPr lang="en-US" sz="1200" dirty="0"/>
          </a:p>
        </p:txBody>
      </p:sp>
      <p:sp>
        <p:nvSpPr>
          <p:cNvPr id="33" name="Text 11"/>
          <p:cNvSpPr/>
          <p:nvPr/>
        </p:nvSpPr>
        <p:spPr>
          <a:xfrm>
            <a:off x="11741944" y="6467475"/>
            <a:ext cx="311468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/ 8</a:t>
            </a:r>
            <a:endParaRPr lang="en-US" sz="105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B4042AF-4577-472F-DAAC-9EBF185AA6C4}"/>
              </a:ext>
            </a:extLst>
          </p:cNvPr>
          <p:cNvSpPr txBox="1"/>
          <p:nvPr/>
        </p:nvSpPr>
        <p:spPr>
          <a:xfrm>
            <a:off x="650548" y="4252436"/>
            <a:ext cx="425406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kumimoji="1" lang="en-US" altLang="ko-KR" dirty="0">
              <a:solidFill>
                <a:schemeClr val="bg1"/>
              </a:solidFill>
            </a:endParaRPr>
          </a:p>
          <a:p>
            <a:r>
              <a:rPr kumimoji="1" lang="en-US" altLang="ko-KR" dirty="0">
                <a:solidFill>
                  <a:schemeClr val="bg1"/>
                </a:solidFill>
              </a:rPr>
              <a:t>++</a:t>
            </a:r>
          </a:p>
          <a:p>
            <a:r>
              <a:rPr kumimoji="1" lang="ko-KR" altLang="en-US" dirty="0">
                <a:solidFill>
                  <a:schemeClr val="bg1"/>
                </a:solidFill>
              </a:rPr>
              <a:t>환자가 본인의 증상을 무엇인지 알고 거기에 필요한 약이나 영양제를 검색해도 나오는 양이 너무 방대함</a:t>
            </a:r>
            <a:r>
              <a:rPr kumimoji="1" lang="en-US" altLang="ko-KR" dirty="0">
                <a:solidFill>
                  <a:schemeClr val="bg1"/>
                </a:solidFill>
              </a:rPr>
              <a:t>. </a:t>
            </a:r>
            <a:r>
              <a:rPr kumimoji="1" lang="ko-KR" altLang="en-US" dirty="0">
                <a:solidFill>
                  <a:schemeClr val="bg1"/>
                </a:solidFill>
              </a:rPr>
              <a:t>사용자는 이 약이 어떤  증상에 효과가 있는지</a:t>
            </a:r>
            <a:r>
              <a:rPr kumimoji="1" lang="en-US" altLang="ko-KR" dirty="0">
                <a:solidFill>
                  <a:schemeClr val="bg1"/>
                </a:solidFill>
              </a:rPr>
              <a:t>. </a:t>
            </a:r>
            <a:r>
              <a:rPr kumimoji="1" lang="ko-KR" altLang="en-US" dirty="0">
                <a:solidFill>
                  <a:schemeClr val="bg1"/>
                </a:solidFill>
              </a:rPr>
              <a:t>즉 효능만 궁금해 하는 경우가 대다수임</a:t>
            </a:r>
            <a:r>
              <a:rPr kumimoji="1" lang="en-US" altLang="ko-KR" dirty="0">
                <a:solidFill>
                  <a:schemeClr val="bg1"/>
                </a:solidFill>
              </a:rPr>
              <a:t>.</a:t>
            </a:r>
            <a:endParaRPr kumimoji="1" lang="ko-KR" altLang="en-US" dirty="0">
              <a:solidFill>
                <a:schemeClr val="bg1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F281D53-7833-B549-B912-EA063E010799}"/>
              </a:ext>
            </a:extLst>
          </p:cNvPr>
          <p:cNvSpPr txBox="1"/>
          <p:nvPr/>
        </p:nvSpPr>
        <p:spPr>
          <a:xfrm>
            <a:off x="6438900" y="4588450"/>
            <a:ext cx="50673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>
                <a:solidFill>
                  <a:schemeClr val="bg1"/>
                </a:solidFill>
              </a:rPr>
              <a:t>++</a:t>
            </a:r>
          </a:p>
          <a:p>
            <a:r>
              <a:rPr kumimoji="1" lang="ko-KR" altLang="en-US" dirty="0">
                <a:solidFill>
                  <a:schemeClr val="bg1"/>
                </a:solidFill>
              </a:rPr>
              <a:t>이 약이 어떤 증상에 효능이 있는 지와</a:t>
            </a:r>
            <a:r>
              <a:rPr kumimoji="1" lang="en-US" altLang="ko-KR" dirty="0">
                <a:solidFill>
                  <a:schemeClr val="bg1"/>
                </a:solidFill>
              </a:rPr>
              <a:t> </a:t>
            </a:r>
            <a:r>
              <a:rPr kumimoji="1" lang="ko-KR" altLang="en-US" dirty="0">
                <a:solidFill>
                  <a:schemeClr val="bg1"/>
                </a:solidFill>
              </a:rPr>
              <a:t> 함께 복용하지 </a:t>
            </a:r>
            <a:r>
              <a:rPr kumimoji="1" lang="ko-KR" altLang="en-US" dirty="0" err="1">
                <a:solidFill>
                  <a:schemeClr val="bg1"/>
                </a:solidFill>
              </a:rPr>
              <a:t>말아야할</a:t>
            </a:r>
            <a:r>
              <a:rPr kumimoji="1" lang="ko-KR" altLang="en-US" dirty="0">
                <a:solidFill>
                  <a:schemeClr val="bg1"/>
                </a:solidFill>
              </a:rPr>
              <a:t> 영양제들이 </a:t>
            </a:r>
            <a:r>
              <a:rPr kumimoji="1" lang="ko-KR" altLang="en-US" dirty="0" err="1">
                <a:solidFill>
                  <a:schemeClr val="bg1"/>
                </a:solidFill>
              </a:rPr>
              <a:t>뭔지</a:t>
            </a:r>
            <a:r>
              <a:rPr kumimoji="1" lang="ko-KR" altLang="en-US" dirty="0">
                <a:solidFill>
                  <a:schemeClr val="bg1"/>
                </a:solidFill>
              </a:rPr>
              <a:t> 알려줌</a:t>
            </a:r>
            <a:endParaRPr kumimoji="1" lang="en-US" altLang="ko-KR" dirty="0">
              <a:solidFill>
                <a:schemeClr val="bg1"/>
              </a:solidFill>
            </a:endParaRPr>
          </a:p>
          <a:p>
            <a:r>
              <a:rPr kumimoji="1" lang="ko-KR" altLang="en-US" dirty="0">
                <a:solidFill>
                  <a:schemeClr val="bg1"/>
                </a:solidFill>
              </a:rPr>
              <a:t>즉 안전성까지 고려해서 영양제를 추천해줌</a:t>
            </a:r>
            <a:endParaRPr kumimoji="1" lang="en-US" altLang="ko-KR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4500" y="0"/>
            <a:ext cx="2857500" cy="2857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953000"/>
            <a:ext cx="1905000" cy="23812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914400"/>
            <a:ext cx="762000" cy="28575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1323975"/>
            <a:ext cx="2438400" cy="23622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90650" y="1514475"/>
            <a:ext cx="571500" cy="5715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14475" y="1628775"/>
            <a:ext cx="323850" cy="3429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7700" y="2619375"/>
            <a:ext cx="133350" cy="13335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7700" y="3076575"/>
            <a:ext cx="133350" cy="13335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03550" y="1323975"/>
            <a:ext cx="2438400" cy="23622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337000" y="1514475"/>
            <a:ext cx="571500" cy="5715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498925" y="1628775"/>
            <a:ext cx="247650" cy="3429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754785" y="2619375"/>
            <a:ext cx="133350" cy="13335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754785" y="2886075"/>
            <a:ext cx="133350" cy="13335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49901" y="1323975"/>
            <a:ext cx="2438400" cy="23622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283351" y="1514475"/>
            <a:ext cx="571500" cy="5715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426226" y="1628775"/>
            <a:ext cx="285750" cy="3429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540401" y="2619375"/>
            <a:ext cx="133350" cy="13335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540401" y="2886075"/>
            <a:ext cx="133350" cy="13335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540401" y="3343275"/>
            <a:ext cx="133350" cy="13335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96251" y="1323975"/>
            <a:ext cx="2438400" cy="23622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229701" y="1514475"/>
            <a:ext cx="571500" cy="5715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405914" y="1628775"/>
            <a:ext cx="219075" cy="3429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486751" y="2619375"/>
            <a:ext cx="133350" cy="13335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486751" y="3076575"/>
            <a:ext cx="133350" cy="13335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247900" y="4067175"/>
            <a:ext cx="2438400" cy="28575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876800" y="4067175"/>
            <a:ext cx="2438400" cy="28575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505700" y="4067175"/>
            <a:ext cx="2438400" cy="28575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2438400" y="4476750"/>
            <a:ext cx="7315200" cy="571500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2590800" y="4629150"/>
            <a:ext cx="190500" cy="266700"/>
          </a:xfrm>
          <a:prstGeom prst="rect">
            <a:avLst/>
          </a:prstGeom>
        </p:spPr>
      </p:pic>
      <p:sp>
        <p:nvSpPr>
          <p:cNvPr id="32" name="Text 0"/>
          <p:cNvSpPr/>
          <p:nvPr/>
        </p:nvSpPr>
        <p:spPr>
          <a:xfrm>
            <a:off x="457200" y="457200"/>
            <a:ext cx="112776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 err="1">
                <a:solidFill>
                  <a:srgbClr val="FFFFFF"/>
                </a:solidFill>
                <a:latin typeface="Segoe UI" pitchFamily="34" charset="0"/>
                <a:cs typeface="Segoe UI" pitchFamily="34" charset="-120"/>
              </a:rPr>
              <a:t>동작</a:t>
            </a:r>
            <a:r>
              <a:rPr lang="en-US" sz="2700" b="1" dirty="0">
                <a:solidFill>
                  <a:srgbClr val="FFFFFF"/>
                </a:solidFill>
                <a:latin typeface="Segoe UI" pitchFamily="34" charset="0"/>
                <a:cs typeface="Segoe UI" pitchFamily="34" charset="-120"/>
              </a:rPr>
              <a:t> </a:t>
            </a:r>
            <a:r>
              <a:rPr lang="en-US" sz="2700" b="1" dirty="0" err="1">
                <a:solidFill>
                  <a:srgbClr val="FFFFFF"/>
                </a:solidFill>
                <a:latin typeface="Segoe UI" pitchFamily="34" charset="0"/>
                <a:cs typeface="Segoe UI" pitchFamily="34" charset="-120"/>
              </a:rPr>
              <a:t>과정</a:t>
            </a:r>
            <a:endParaRPr lang="en-US" sz="2700" dirty="0"/>
          </a:p>
        </p:txBody>
      </p:sp>
      <p:sp>
        <p:nvSpPr>
          <p:cNvPr id="33" name="Text 1"/>
          <p:cNvSpPr/>
          <p:nvPr/>
        </p:nvSpPr>
        <p:spPr>
          <a:xfrm>
            <a:off x="571277" y="2238375"/>
            <a:ext cx="2210098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사용자 데이터 입력</a:t>
            </a:r>
            <a:endParaRPr lang="en-US" sz="1500" dirty="0"/>
          </a:p>
        </p:txBody>
      </p:sp>
      <p:sp>
        <p:nvSpPr>
          <p:cNvPr id="34" name="Text 2"/>
          <p:cNvSpPr/>
          <p:nvPr/>
        </p:nvSpPr>
        <p:spPr>
          <a:xfrm>
            <a:off x="857250" y="2581275"/>
            <a:ext cx="184785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대화형 방식으로 증상, 생활습관 등 비구조화된 데이터 입력</a:t>
            </a:r>
            <a:endParaRPr lang="en-US" sz="1050" dirty="0"/>
          </a:p>
        </p:txBody>
      </p:sp>
      <p:sp>
        <p:nvSpPr>
          <p:cNvPr id="35" name="Text 3"/>
          <p:cNvSpPr/>
          <p:nvPr/>
        </p:nvSpPr>
        <p:spPr>
          <a:xfrm>
            <a:off x="857250" y="3038475"/>
            <a:ext cx="184785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구조화된 데이터 </a:t>
            </a:r>
            <a:r>
              <a:rPr lang="en-US" sz="1050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입력</a:t>
            </a: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050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또한</a:t>
            </a: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050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지원</a:t>
            </a:r>
            <a:endParaRPr lang="en-US" sz="1050" dirty="0"/>
          </a:p>
        </p:txBody>
      </p:sp>
      <p:sp>
        <p:nvSpPr>
          <p:cNvPr id="36" name="Text 4"/>
          <p:cNvSpPr/>
          <p:nvPr/>
        </p:nvSpPr>
        <p:spPr>
          <a:xfrm>
            <a:off x="3486001" y="2238375"/>
            <a:ext cx="2273498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데이터 수집 및 통합</a:t>
            </a:r>
            <a:endParaRPr lang="en-US" sz="1500" dirty="0"/>
          </a:p>
        </p:txBody>
      </p:sp>
      <p:sp>
        <p:nvSpPr>
          <p:cNvPr id="37" name="Text 5"/>
          <p:cNvSpPr/>
          <p:nvPr/>
        </p:nvSpPr>
        <p:spPr>
          <a:xfrm>
            <a:off x="3964335" y="2581275"/>
            <a:ext cx="1831479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심평원과 식약처 API 연동</a:t>
            </a:r>
            <a:endParaRPr lang="en-US" sz="1050" dirty="0"/>
          </a:p>
        </p:txBody>
      </p:sp>
      <p:sp>
        <p:nvSpPr>
          <p:cNvPr id="38" name="Text 6"/>
          <p:cNvSpPr/>
          <p:nvPr/>
        </p:nvSpPr>
        <p:spPr>
          <a:xfrm>
            <a:off x="3964335" y="2847975"/>
            <a:ext cx="173361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정확한 성분 데이터 취득</a:t>
            </a:r>
            <a:endParaRPr lang="en-US" sz="1050" dirty="0"/>
          </a:p>
        </p:txBody>
      </p:sp>
      <p:sp>
        <p:nvSpPr>
          <p:cNvPr id="39" name="Text 7"/>
          <p:cNvSpPr/>
          <p:nvPr/>
        </p:nvSpPr>
        <p:spPr>
          <a:xfrm>
            <a:off x="6463978" y="2238375"/>
            <a:ext cx="2210098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증상과 영양소 분석</a:t>
            </a:r>
            <a:endParaRPr lang="en-US" sz="1500" dirty="0"/>
          </a:p>
        </p:txBody>
      </p:sp>
      <p:sp>
        <p:nvSpPr>
          <p:cNvPr id="40" name="Text 8"/>
          <p:cNvSpPr/>
          <p:nvPr/>
        </p:nvSpPr>
        <p:spPr>
          <a:xfrm>
            <a:off x="6749951" y="2581275"/>
            <a:ext cx="1218009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증상-영양소 매핑</a:t>
            </a:r>
            <a:endParaRPr lang="en-US" sz="1050" dirty="0"/>
          </a:p>
        </p:txBody>
      </p:sp>
      <p:sp>
        <p:nvSpPr>
          <p:cNvPr id="41" name="Text 9"/>
          <p:cNvSpPr/>
          <p:nvPr/>
        </p:nvSpPr>
        <p:spPr>
          <a:xfrm>
            <a:off x="6749951" y="2847975"/>
            <a:ext cx="184785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증상+나이</a:t>
            </a: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분석을 통한 영양소 우선순위 설정</a:t>
            </a:r>
            <a:endParaRPr lang="en-US" sz="1050" dirty="0"/>
          </a:p>
        </p:txBody>
      </p:sp>
      <p:sp>
        <p:nvSpPr>
          <p:cNvPr id="42" name="Text 10"/>
          <p:cNvSpPr/>
          <p:nvPr/>
        </p:nvSpPr>
        <p:spPr>
          <a:xfrm>
            <a:off x="6749951" y="3305175"/>
            <a:ext cx="13691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위험 영양소 필터링</a:t>
            </a:r>
            <a:endParaRPr lang="en-US" sz="1050" dirty="0"/>
          </a:p>
        </p:txBody>
      </p:sp>
      <p:sp>
        <p:nvSpPr>
          <p:cNvPr id="43" name="Text 11"/>
          <p:cNvSpPr/>
          <p:nvPr/>
        </p:nvSpPr>
        <p:spPr>
          <a:xfrm>
            <a:off x="9493002" y="2238375"/>
            <a:ext cx="2044898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결과 요약 및 추천</a:t>
            </a:r>
            <a:endParaRPr lang="en-US" sz="1500" dirty="0"/>
          </a:p>
        </p:txBody>
      </p:sp>
      <p:sp>
        <p:nvSpPr>
          <p:cNvPr id="44" name="Text 12"/>
          <p:cNvSpPr/>
          <p:nvPr/>
        </p:nvSpPr>
        <p:spPr>
          <a:xfrm>
            <a:off x="9696301" y="2581275"/>
            <a:ext cx="184785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분석 결과 요약 및 추천 영양소 제공</a:t>
            </a:r>
            <a:endParaRPr lang="en-US" sz="1050" dirty="0"/>
          </a:p>
        </p:txBody>
      </p:sp>
      <p:sp>
        <p:nvSpPr>
          <p:cNvPr id="45" name="Text 13"/>
          <p:cNvSpPr/>
          <p:nvPr/>
        </p:nvSpPr>
        <p:spPr>
          <a:xfrm>
            <a:off x="9696301" y="3038475"/>
            <a:ext cx="184785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효능, 보안 경고, 복용 방법 상세 안내</a:t>
            </a:r>
            <a:endParaRPr lang="en-US" sz="1050" dirty="0"/>
          </a:p>
        </p:txBody>
      </p:sp>
      <p:sp>
        <p:nvSpPr>
          <p:cNvPr id="46" name="Text 14"/>
          <p:cNvSpPr/>
          <p:nvPr/>
        </p:nvSpPr>
        <p:spPr>
          <a:xfrm>
            <a:off x="2895600" y="4648200"/>
            <a:ext cx="7549158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LLM를 활용하여 사용자의 증상을 분석하고, 전문적인 영양 보충제 추천 서비스를 제공합니다.</a:t>
            </a:r>
            <a:endParaRPr lang="en-US" sz="1200" dirty="0"/>
          </a:p>
        </p:txBody>
      </p:sp>
      <p:sp>
        <p:nvSpPr>
          <p:cNvPr id="47" name="Text 15"/>
          <p:cNvSpPr/>
          <p:nvPr/>
        </p:nvSpPr>
        <p:spPr>
          <a:xfrm>
            <a:off x="11741944" y="6467475"/>
            <a:ext cx="311468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/ 8</a:t>
            </a:r>
            <a:endParaRPr lang="en-US" sz="1050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7F6336D-4966-BA65-82E6-B756FAB8290A}"/>
              </a:ext>
            </a:extLst>
          </p:cNvPr>
          <p:cNvSpPr txBox="1"/>
          <p:nvPr/>
        </p:nvSpPr>
        <p:spPr>
          <a:xfrm>
            <a:off x="2631407" y="5162282"/>
            <a:ext cx="712219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요약하자면</a:t>
            </a:r>
            <a:r>
              <a:rPr kumimoji="1" lang="en-US" altLang="ko-KR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,</a:t>
            </a:r>
          </a:p>
          <a:p>
            <a:r>
              <a:rPr kumimoji="1" lang="en-US" altLang="ko-KR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LLM</a:t>
            </a:r>
            <a:r>
              <a:rPr kumimoji="1" lang="ko-KR" altLang="en-US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에다가 추가로 </a:t>
            </a:r>
            <a:r>
              <a:rPr kumimoji="1" lang="en-US" altLang="ko-KR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RAG(</a:t>
            </a:r>
            <a:r>
              <a:rPr kumimoji="1" lang="ko-KR" altLang="en-US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검색 증강 생성</a:t>
            </a:r>
            <a:r>
              <a:rPr kumimoji="1" lang="en-US" altLang="ko-KR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)</a:t>
            </a:r>
            <a:r>
              <a:rPr kumimoji="1" lang="ko-KR" altLang="en-US" dirty="0" err="1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를</a:t>
            </a:r>
            <a:r>
              <a:rPr kumimoji="1" lang="ko-KR" altLang="en-US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통해 더 전문적인 지식을 가져오고 심평원과 </a:t>
            </a:r>
            <a:r>
              <a:rPr kumimoji="1" lang="ko-KR" altLang="en-US" dirty="0" err="1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식약처</a:t>
            </a:r>
            <a:r>
              <a:rPr kumimoji="1" lang="ko-KR" altLang="en-US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kumimoji="1" lang="en-US" altLang="ko-KR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API</a:t>
            </a:r>
            <a:r>
              <a:rPr kumimoji="1" lang="ko-KR" altLang="en-US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는 영양제 복용 과정에서 어떤 것을 피해야 하는지 알려주는 역할을 해줍니다</a:t>
            </a:r>
            <a:r>
              <a:rPr kumimoji="1" lang="en-US" altLang="ko-KR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4500" y="0"/>
            <a:ext cx="2857500" cy="2857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953000"/>
            <a:ext cx="1905000" cy="23812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914400"/>
            <a:ext cx="762000" cy="28575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1247775"/>
            <a:ext cx="5524500" cy="45720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" y="1476375"/>
            <a:ext cx="571500" cy="5715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0575" y="1590675"/>
            <a:ext cx="361950" cy="3429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5800" y="2238375"/>
            <a:ext cx="171450" cy="17145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5800" y="2619375"/>
            <a:ext cx="171450" cy="17145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5800" y="3076575"/>
            <a:ext cx="5067300" cy="25146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8200" y="3276600"/>
            <a:ext cx="123825" cy="1905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38200" y="3609975"/>
            <a:ext cx="3810000" cy="9144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790700" y="4638675"/>
            <a:ext cx="3810000" cy="685800"/>
          </a:xfrm>
          <a:prstGeom prst="rect">
            <a:avLst/>
          </a:prstGeom>
        </p:spPr>
      </p:pic>
      <p:sp>
        <p:nvSpPr>
          <p:cNvPr id="30" name="Text 0"/>
          <p:cNvSpPr/>
          <p:nvPr/>
        </p:nvSpPr>
        <p:spPr>
          <a:xfrm>
            <a:off x="457200" y="457200"/>
            <a:ext cx="112776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사용자 데이터 입력</a:t>
            </a:r>
            <a:endParaRPr lang="en-US" sz="2700" dirty="0"/>
          </a:p>
        </p:txBody>
      </p:sp>
      <p:sp>
        <p:nvSpPr>
          <p:cNvPr id="31" name="Text 1"/>
          <p:cNvSpPr/>
          <p:nvPr/>
        </p:nvSpPr>
        <p:spPr>
          <a:xfrm>
            <a:off x="1409700" y="1609725"/>
            <a:ext cx="2621399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비구조화 데이터 입력</a:t>
            </a:r>
            <a:endParaRPr lang="en-US" sz="1800" dirty="0"/>
          </a:p>
        </p:txBody>
      </p:sp>
      <p:sp>
        <p:nvSpPr>
          <p:cNvPr id="32" name="Text 2"/>
          <p:cNvSpPr/>
          <p:nvPr/>
        </p:nvSpPr>
        <p:spPr>
          <a:xfrm>
            <a:off x="971550" y="2200275"/>
            <a:ext cx="565802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사용자는 대화 방식으로 증상, 생활 습관 등을 자연스럽게 입력</a:t>
            </a:r>
            <a:endParaRPr lang="en-US" sz="1350" dirty="0"/>
          </a:p>
        </p:txBody>
      </p:sp>
      <p:sp>
        <p:nvSpPr>
          <p:cNvPr id="33" name="Text 3"/>
          <p:cNvSpPr/>
          <p:nvPr/>
        </p:nvSpPr>
        <p:spPr>
          <a:xfrm>
            <a:off x="971550" y="2581275"/>
            <a:ext cx="451502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모호한 증상 표현도 자연어 처리 기술로 분석 가능</a:t>
            </a:r>
            <a:endParaRPr lang="en-US" sz="1350" dirty="0"/>
          </a:p>
        </p:txBody>
      </p:sp>
      <p:sp>
        <p:nvSpPr>
          <p:cNvPr id="34" name="Text 4"/>
          <p:cNvSpPr/>
          <p:nvPr/>
        </p:nvSpPr>
        <p:spPr>
          <a:xfrm>
            <a:off x="1038225" y="3228975"/>
            <a:ext cx="47625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E9D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대화 예시</a:t>
            </a:r>
            <a:endParaRPr lang="en-US" sz="1350" dirty="0"/>
          </a:p>
        </p:txBody>
      </p:sp>
      <p:sp>
        <p:nvSpPr>
          <p:cNvPr id="35" name="Text 5"/>
          <p:cNvSpPr/>
          <p:nvPr/>
        </p:nvSpPr>
        <p:spPr>
          <a:xfrm>
            <a:off x="1009650" y="3724275"/>
            <a:ext cx="346710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</a:t>
            </a:r>
            <a:r>
              <a:rPr lang="en-US" sz="1200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최근에</a:t>
            </a: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갑자기</a:t>
            </a: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무릎이</a:t>
            </a: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아프기도고</a:t>
            </a: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r>
              <a:rPr lang="en-US" sz="1200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수면의</a:t>
            </a: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질이</a:t>
            </a: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좋지않아</a:t>
            </a: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계속</a:t>
            </a: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피로해요</a:t>
            </a:r>
            <a:r>
              <a:rPr lang="en-US" altLang="ko-KR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</a:t>
            </a:r>
            <a:r>
              <a:rPr lang="ko-KR" alt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또 소화불량도 있는 거 같아요</a:t>
            </a:r>
            <a:r>
              <a:rPr lang="en-US" altLang="ko-KR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.”</a:t>
            </a:r>
            <a:endParaRPr lang="en-US" sz="1200" dirty="0"/>
          </a:p>
        </p:txBody>
      </p:sp>
      <p:sp>
        <p:nvSpPr>
          <p:cNvPr id="36" name="Text 6"/>
          <p:cNvSpPr/>
          <p:nvPr/>
        </p:nvSpPr>
        <p:spPr>
          <a:xfrm>
            <a:off x="1962150" y="4752975"/>
            <a:ext cx="34671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</a:t>
            </a:r>
            <a:r>
              <a:rPr lang="en-US" sz="1200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좋습니다</a:t>
            </a: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</a:t>
            </a:r>
            <a:r>
              <a:rPr lang="en-US" sz="1200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사용자님의</a:t>
            </a: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증상에</a:t>
            </a: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알맞은</a:t>
            </a: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영양제와</a:t>
            </a:r>
            <a:endParaRPr lang="en-US" sz="1200" dirty="0">
              <a:solidFill>
                <a:srgbClr val="FFFFFF"/>
              </a:solidFill>
              <a:latin typeface="Segoe UI" pitchFamily="34" charset="0"/>
              <a:ea typeface="Segoe UI" pitchFamily="34" charset="-122"/>
              <a:cs typeface="Segoe UI" pitchFamily="34" charset="-120"/>
            </a:endParaRPr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함께</a:t>
            </a: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복용하면</a:t>
            </a: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안</a:t>
            </a: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되는</a:t>
            </a: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영양제를</a:t>
            </a: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알려드릴게요</a:t>
            </a: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"</a:t>
            </a:r>
            <a:endParaRPr lang="en-US" sz="1200" dirty="0"/>
          </a:p>
        </p:txBody>
      </p:sp>
      <p:sp>
        <p:nvSpPr>
          <p:cNvPr id="37" name="Text 7"/>
          <p:cNvSpPr/>
          <p:nvPr/>
        </p:nvSpPr>
        <p:spPr>
          <a:xfrm>
            <a:off x="7162800" y="1609725"/>
            <a:ext cx="2347079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endParaRPr lang="en-US" sz="1800" dirty="0"/>
          </a:p>
        </p:txBody>
      </p:sp>
      <p:sp>
        <p:nvSpPr>
          <p:cNvPr id="38" name="Text 8"/>
          <p:cNvSpPr/>
          <p:nvPr/>
        </p:nvSpPr>
        <p:spPr>
          <a:xfrm>
            <a:off x="6724650" y="2200275"/>
            <a:ext cx="462932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endParaRPr lang="en-US" sz="1350" dirty="0"/>
          </a:p>
        </p:txBody>
      </p:sp>
      <p:sp>
        <p:nvSpPr>
          <p:cNvPr id="39" name="Text 9"/>
          <p:cNvSpPr/>
          <p:nvPr/>
        </p:nvSpPr>
        <p:spPr>
          <a:xfrm>
            <a:off x="6724650" y="2581275"/>
            <a:ext cx="509795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endParaRPr lang="en-US" sz="1350" dirty="0"/>
          </a:p>
        </p:txBody>
      </p:sp>
      <p:sp>
        <p:nvSpPr>
          <p:cNvPr id="40" name="Text 10"/>
          <p:cNvSpPr/>
          <p:nvPr/>
        </p:nvSpPr>
        <p:spPr>
          <a:xfrm>
            <a:off x="6800850" y="3228975"/>
            <a:ext cx="47625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endParaRPr lang="en-US" sz="1350" dirty="0"/>
          </a:p>
        </p:txBody>
      </p:sp>
      <p:sp>
        <p:nvSpPr>
          <p:cNvPr id="41" name="Text 11"/>
          <p:cNvSpPr/>
          <p:nvPr/>
        </p:nvSpPr>
        <p:spPr>
          <a:xfrm>
            <a:off x="6705600" y="3724275"/>
            <a:ext cx="20955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endParaRPr lang="en-US" sz="1050" dirty="0"/>
          </a:p>
        </p:txBody>
      </p:sp>
      <p:sp>
        <p:nvSpPr>
          <p:cNvPr id="42" name="Text 12"/>
          <p:cNvSpPr/>
          <p:nvPr/>
        </p:nvSpPr>
        <p:spPr>
          <a:xfrm>
            <a:off x="6781800" y="3952875"/>
            <a:ext cx="20955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endParaRPr lang="en-US" sz="1200" dirty="0"/>
          </a:p>
        </p:txBody>
      </p:sp>
      <p:sp>
        <p:nvSpPr>
          <p:cNvPr id="44" name="Text 14"/>
          <p:cNvSpPr/>
          <p:nvPr/>
        </p:nvSpPr>
        <p:spPr>
          <a:xfrm>
            <a:off x="9220200" y="3952875"/>
            <a:ext cx="20955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endParaRPr lang="en-US" sz="1200" dirty="0"/>
          </a:p>
        </p:txBody>
      </p:sp>
      <p:sp>
        <p:nvSpPr>
          <p:cNvPr id="45" name="Text 15"/>
          <p:cNvSpPr/>
          <p:nvPr/>
        </p:nvSpPr>
        <p:spPr>
          <a:xfrm>
            <a:off x="6705600" y="4600575"/>
            <a:ext cx="20955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endParaRPr lang="en-US" sz="1050" dirty="0"/>
          </a:p>
        </p:txBody>
      </p:sp>
      <p:sp>
        <p:nvSpPr>
          <p:cNvPr id="46" name="Text 16"/>
          <p:cNvSpPr/>
          <p:nvPr/>
        </p:nvSpPr>
        <p:spPr>
          <a:xfrm>
            <a:off x="6781800" y="4829175"/>
            <a:ext cx="20955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endParaRPr lang="en-US" sz="1200" dirty="0"/>
          </a:p>
        </p:txBody>
      </p:sp>
      <p:sp>
        <p:nvSpPr>
          <p:cNvPr id="47" name="Text 17"/>
          <p:cNvSpPr/>
          <p:nvPr/>
        </p:nvSpPr>
        <p:spPr>
          <a:xfrm>
            <a:off x="9144000" y="4600575"/>
            <a:ext cx="20955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endParaRPr lang="en-US" sz="1050" dirty="0"/>
          </a:p>
        </p:txBody>
      </p:sp>
      <p:sp>
        <p:nvSpPr>
          <p:cNvPr id="48" name="Text 18"/>
          <p:cNvSpPr/>
          <p:nvPr/>
        </p:nvSpPr>
        <p:spPr>
          <a:xfrm>
            <a:off x="9220200" y="4829175"/>
            <a:ext cx="20955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endParaRPr lang="en-US" sz="1200" dirty="0"/>
          </a:p>
        </p:txBody>
      </p:sp>
      <p:sp>
        <p:nvSpPr>
          <p:cNvPr id="49" name="Text 19"/>
          <p:cNvSpPr/>
          <p:nvPr/>
        </p:nvSpPr>
        <p:spPr>
          <a:xfrm>
            <a:off x="11741944" y="6467475"/>
            <a:ext cx="311468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/ 8</a:t>
            </a:r>
            <a:endParaRPr lang="en-US" sz="105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083ED89-A7F3-D0D6-2B40-78668C7217DB}"/>
              </a:ext>
            </a:extLst>
          </p:cNvPr>
          <p:cNvSpPr txBox="1"/>
          <p:nvPr/>
        </p:nvSpPr>
        <p:spPr>
          <a:xfrm>
            <a:off x="6705600" y="2619196"/>
            <a:ext cx="380283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dirty="0">
                <a:solidFill>
                  <a:schemeClr val="bg2"/>
                </a:solidFill>
              </a:rPr>
              <a:t>사용자가 내린 </a:t>
            </a:r>
            <a:r>
              <a:rPr kumimoji="1" lang="ko-KR" altLang="en-US" dirty="0" err="1">
                <a:solidFill>
                  <a:schemeClr val="bg2"/>
                </a:solidFill>
              </a:rPr>
              <a:t>비구조화된</a:t>
            </a:r>
            <a:r>
              <a:rPr kumimoji="1" lang="ko-KR" altLang="en-US" dirty="0">
                <a:solidFill>
                  <a:schemeClr val="bg2"/>
                </a:solidFill>
              </a:rPr>
              <a:t> 프롬프트를 </a:t>
            </a:r>
            <a:r>
              <a:rPr kumimoji="1" lang="en-US" altLang="ko-KR" dirty="0">
                <a:solidFill>
                  <a:schemeClr val="bg2"/>
                </a:solidFill>
              </a:rPr>
              <a:t>RAG</a:t>
            </a:r>
            <a:r>
              <a:rPr kumimoji="1" lang="ko-KR" altLang="en-US" dirty="0">
                <a:solidFill>
                  <a:schemeClr val="bg2"/>
                </a:solidFill>
              </a:rPr>
              <a:t> 와 </a:t>
            </a:r>
            <a:r>
              <a:rPr kumimoji="1" lang="en-US" altLang="ko-KR" dirty="0">
                <a:solidFill>
                  <a:schemeClr val="bg2"/>
                </a:solidFill>
              </a:rPr>
              <a:t>API</a:t>
            </a:r>
            <a:r>
              <a:rPr kumimoji="1" lang="ko-KR" altLang="en-US" dirty="0" err="1">
                <a:solidFill>
                  <a:schemeClr val="bg2"/>
                </a:solidFill>
              </a:rPr>
              <a:t>를</a:t>
            </a:r>
            <a:r>
              <a:rPr kumimoji="1" lang="ko-KR" altLang="en-US" dirty="0">
                <a:solidFill>
                  <a:schemeClr val="bg2"/>
                </a:solidFill>
              </a:rPr>
              <a:t> 포함한 여러 단계의 파이프라인이 협력하여 </a:t>
            </a:r>
            <a:br>
              <a:rPr kumimoji="1" lang="en-US" altLang="ko-KR" dirty="0">
                <a:solidFill>
                  <a:schemeClr val="bg2"/>
                </a:solidFill>
              </a:rPr>
            </a:br>
            <a:r>
              <a:rPr kumimoji="1" lang="en-US" altLang="ko-KR" dirty="0">
                <a:solidFill>
                  <a:schemeClr val="bg2"/>
                </a:solidFill>
              </a:rPr>
              <a:t>LLM</a:t>
            </a:r>
            <a:r>
              <a:rPr kumimoji="1" lang="ko-KR" altLang="en-US" dirty="0">
                <a:solidFill>
                  <a:schemeClr val="bg2"/>
                </a:solidFill>
              </a:rPr>
              <a:t>에게 구조화된 데이터를 날림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D9C1A46-81CD-400F-1E02-B521639CAF57}"/>
              </a:ext>
            </a:extLst>
          </p:cNvPr>
          <p:cNvSpPr txBox="1"/>
          <p:nvPr/>
        </p:nvSpPr>
        <p:spPr>
          <a:xfrm>
            <a:off x="6724650" y="4622839"/>
            <a:ext cx="45910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>
                <a:solidFill>
                  <a:schemeClr val="bg2"/>
                </a:solidFill>
              </a:rPr>
              <a:t>RAG</a:t>
            </a:r>
            <a:r>
              <a:rPr kumimoji="1" lang="ko-KR" altLang="en-US" dirty="0" err="1">
                <a:solidFill>
                  <a:schemeClr val="bg2"/>
                </a:solidFill>
              </a:rPr>
              <a:t>를</a:t>
            </a:r>
            <a:r>
              <a:rPr kumimoji="1" lang="ko-KR" altLang="en-US" dirty="0">
                <a:solidFill>
                  <a:schemeClr val="bg2"/>
                </a:solidFill>
              </a:rPr>
              <a:t> 쓰는 이유</a:t>
            </a:r>
            <a:r>
              <a:rPr kumimoji="1" lang="en-US" altLang="ko-KR" dirty="0">
                <a:solidFill>
                  <a:schemeClr val="bg2"/>
                </a:solidFill>
              </a:rPr>
              <a:t>:</a:t>
            </a:r>
          </a:p>
          <a:p>
            <a:r>
              <a:rPr kumimoji="1" lang="ko-KR" altLang="en-US" dirty="0">
                <a:solidFill>
                  <a:schemeClr val="bg2"/>
                </a:solidFill>
              </a:rPr>
              <a:t>건강에 관련된 서비스이기 때문에</a:t>
            </a:r>
            <a:endParaRPr kumimoji="1" lang="en-US" altLang="ko-KR" dirty="0">
              <a:solidFill>
                <a:schemeClr val="bg2"/>
              </a:solidFill>
            </a:endParaRPr>
          </a:p>
          <a:p>
            <a:r>
              <a:rPr kumimoji="1" lang="ko-KR" altLang="en-US" dirty="0">
                <a:solidFill>
                  <a:schemeClr val="bg2"/>
                </a:solidFill>
              </a:rPr>
              <a:t>더 </a:t>
            </a:r>
            <a:r>
              <a:rPr kumimoji="1" lang="ko-KR" altLang="en-US" dirty="0" err="1">
                <a:solidFill>
                  <a:schemeClr val="bg2"/>
                </a:solidFill>
              </a:rPr>
              <a:t>신뢰성있고</a:t>
            </a:r>
            <a:r>
              <a:rPr kumimoji="1" lang="ko-KR" altLang="en-US" dirty="0">
                <a:solidFill>
                  <a:schemeClr val="bg2"/>
                </a:solidFill>
              </a:rPr>
              <a:t> 전문적인 지식을 쓰기 위해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4500" y="279641"/>
            <a:ext cx="2857500" cy="2857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953000"/>
            <a:ext cx="1905000" cy="23812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914400"/>
            <a:ext cx="762000" cy="28575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0" y="1433513"/>
            <a:ext cx="1676400" cy="15240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2925" y="1616933"/>
            <a:ext cx="571500" cy="5715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3820" y="1773709"/>
            <a:ext cx="285750" cy="3048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100262" y="1466850"/>
            <a:ext cx="2438400" cy="15240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914650" y="1628775"/>
            <a:ext cx="571500" cy="5715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071813" y="1762125"/>
            <a:ext cx="257175" cy="3048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724400" y="2071688"/>
            <a:ext cx="1219200" cy="28575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276850" y="2195513"/>
            <a:ext cx="114300" cy="1524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48400" y="1476375"/>
            <a:ext cx="2438400" cy="15240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181850" y="1628775"/>
            <a:ext cx="571500" cy="5715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367587" y="1762125"/>
            <a:ext cx="200025" cy="3048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991600" y="2071688"/>
            <a:ext cx="1219200" cy="28575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544050" y="2195513"/>
            <a:ext cx="114300" cy="1524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267950" y="1486287"/>
            <a:ext cx="1676400" cy="15240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820400" y="1657350"/>
            <a:ext cx="571500" cy="5715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953750" y="1748031"/>
            <a:ext cx="228600" cy="3048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57200" y="3114675"/>
            <a:ext cx="5524500" cy="16002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47700" y="3343275"/>
            <a:ext cx="142875" cy="1905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47700" y="3724275"/>
            <a:ext cx="152400" cy="1524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47700" y="4029075"/>
            <a:ext cx="152400" cy="1524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47700" y="4333875"/>
            <a:ext cx="152400" cy="1524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210300" y="3114675"/>
            <a:ext cx="5524500" cy="16002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400800" y="3343275"/>
            <a:ext cx="190500" cy="1905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400800" y="3724275"/>
            <a:ext cx="152400" cy="15240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400800" y="4029075"/>
            <a:ext cx="152400" cy="152400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400800" y="4333875"/>
            <a:ext cx="152400" cy="152400"/>
          </a:xfrm>
          <a:prstGeom prst="rect">
            <a:avLst/>
          </a:prstGeom>
        </p:spPr>
      </p:pic>
      <p:sp>
        <p:nvSpPr>
          <p:cNvPr id="32" name="Text 0"/>
          <p:cNvSpPr/>
          <p:nvPr/>
        </p:nvSpPr>
        <p:spPr>
          <a:xfrm>
            <a:off x="457200" y="457200"/>
            <a:ext cx="112776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데이터 수집 및 통합</a:t>
            </a:r>
            <a:endParaRPr lang="en-US" sz="2700" dirty="0"/>
          </a:p>
        </p:txBody>
      </p:sp>
      <p:sp>
        <p:nvSpPr>
          <p:cNvPr id="33" name="Text 1"/>
          <p:cNvSpPr/>
          <p:nvPr/>
        </p:nvSpPr>
        <p:spPr>
          <a:xfrm>
            <a:off x="457200" y="1171575"/>
            <a:ext cx="11277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심평원과 식약처 API 연동을 통한 정확한 성분 데이터 확보</a:t>
            </a:r>
            <a:endParaRPr lang="en-US" sz="1500" dirty="0"/>
          </a:p>
        </p:txBody>
      </p:sp>
      <p:sp>
        <p:nvSpPr>
          <p:cNvPr id="34" name="Text 2"/>
          <p:cNvSpPr/>
          <p:nvPr/>
        </p:nvSpPr>
        <p:spPr>
          <a:xfrm>
            <a:off x="-125627" y="2366962"/>
            <a:ext cx="2133600" cy="9525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 err="1">
                <a:solidFill>
                  <a:srgbClr val="FFFFFF"/>
                </a:solidFill>
                <a:latin typeface="Segoe UI" pitchFamily="34" charset="0"/>
                <a:cs typeface="Segoe UI" pitchFamily="34" charset="-120"/>
              </a:rPr>
              <a:t>심평원</a:t>
            </a:r>
            <a:endParaRPr lang="en-US" sz="1500" dirty="0"/>
          </a:p>
        </p:txBody>
      </p:sp>
      <p:sp>
        <p:nvSpPr>
          <p:cNvPr id="35" name="Text 3"/>
          <p:cNvSpPr/>
          <p:nvPr/>
        </p:nvSpPr>
        <p:spPr>
          <a:xfrm>
            <a:off x="-276225" y="2645568"/>
            <a:ext cx="21336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    </a:t>
            </a:r>
            <a:r>
              <a:rPr lang="en-US" sz="1200" dirty="0" err="1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건강보험심사평가</a:t>
            </a:r>
            <a:endParaRPr lang="en-US" sz="1200" dirty="0"/>
          </a:p>
        </p:txBody>
      </p:sp>
      <p:sp>
        <p:nvSpPr>
          <p:cNvPr id="36" name="Text 4"/>
          <p:cNvSpPr/>
          <p:nvPr/>
        </p:nvSpPr>
        <p:spPr>
          <a:xfrm>
            <a:off x="2133600" y="2314575"/>
            <a:ext cx="2133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식약처</a:t>
            </a:r>
            <a:endParaRPr lang="en-US" sz="1500" dirty="0"/>
          </a:p>
        </p:txBody>
      </p:sp>
      <p:sp>
        <p:nvSpPr>
          <p:cNvPr id="37" name="Text 5"/>
          <p:cNvSpPr/>
          <p:nvPr/>
        </p:nvSpPr>
        <p:spPr>
          <a:xfrm>
            <a:off x="2133600" y="2619375"/>
            <a:ext cx="21336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식품의약품안전처</a:t>
            </a:r>
            <a:endParaRPr lang="en-US" sz="1200" dirty="0"/>
          </a:p>
        </p:txBody>
      </p:sp>
      <p:sp>
        <p:nvSpPr>
          <p:cNvPr id="38" name="Text 6"/>
          <p:cNvSpPr/>
          <p:nvPr/>
        </p:nvSpPr>
        <p:spPr>
          <a:xfrm>
            <a:off x="6400800" y="2314575"/>
            <a:ext cx="2133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데이터 통합</a:t>
            </a:r>
            <a:endParaRPr lang="en-US" sz="1500" dirty="0"/>
          </a:p>
        </p:txBody>
      </p:sp>
      <p:sp>
        <p:nvSpPr>
          <p:cNvPr id="39" name="Text 7"/>
          <p:cNvSpPr/>
          <p:nvPr/>
        </p:nvSpPr>
        <p:spPr>
          <a:xfrm>
            <a:off x="6400800" y="2619375"/>
            <a:ext cx="21336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성분 데이터 병합</a:t>
            </a:r>
            <a:endParaRPr lang="en-US" sz="1200" dirty="0"/>
          </a:p>
        </p:txBody>
      </p:sp>
      <p:sp>
        <p:nvSpPr>
          <p:cNvPr id="40" name="Text 8"/>
          <p:cNvSpPr/>
          <p:nvPr/>
        </p:nvSpPr>
        <p:spPr>
          <a:xfrm>
            <a:off x="10668000" y="2310006"/>
            <a:ext cx="1066800" cy="27126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LLM </a:t>
            </a:r>
            <a:r>
              <a:rPr lang="en-US" sz="1500" b="1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시스템</a:t>
            </a:r>
            <a:endParaRPr lang="en-US" sz="1500" dirty="0"/>
          </a:p>
        </p:txBody>
      </p:sp>
      <p:sp>
        <p:nvSpPr>
          <p:cNvPr id="41" name="Text 9"/>
          <p:cNvSpPr/>
          <p:nvPr/>
        </p:nvSpPr>
        <p:spPr>
          <a:xfrm>
            <a:off x="9879330" y="2650952"/>
            <a:ext cx="25603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정확한 성분 데이터베이스</a:t>
            </a:r>
            <a:endParaRPr lang="en-US" sz="1200" dirty="0"/>
          </a:p>
        </p:txBody>
      </p:sp>
      <p:sp>
        <p:nvSpPr>
          <p:cNvPr id="42" name="Text 10"/>
          <p:cNvSpPr/>
          <p:nvPr/>
        </p:nvSpPr>
        <p:spPr>
          <a:xfrm>
            <a:off x="904875" y="3305175"/>
            <a:ext cx="51435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 연동 과정</a:t>
            </a:r>
            <a:endParaRPr lang="en-US" sz="1500" dirty="0"/>
          </a:p>
        </p:txBody>
      </p:sp>
      <p:sp>
        <p:nvSpPr>
          <p:cNvPr id="43" name="Text 11"/>
          <p:cNvSpPr/>
          <p:nvPr/>
        </p:nvSpPr>
        <p:spPr>
          <a:xfrm>
            <a:off x="876300" y="3686175"/>
            <a:ext cx="4125158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심평원 API를 통해 영양 보충제 관련 데이터를 수집</a:t>
            </a:r>
            <a:endParaRPr lang="en-US" sz="1200" dirty="0"/>
          </a:p>
        </p:txBody>
      </p:sp>
      <p:sp>
        <p:nvSpPr>
          <p:cNvPr id="44" name="Text 12"/>
          <p:cNvSpPr/>
          <p:nvPr/>
        </p:nvSpPr>
        <p:spPr>
          <a:xfrm>
            <a:off x="876300" y="3990975"/>
            <a:ext cx="3708678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식약처 API를 통해 추가적인 성분 정보를 통합</a:t>
            </a:r>
            <a:endParaRPr lang="en-US" sz="1200" dirty="0"/>
          </a:p>
        </p:txBody>
      </p:sp>
      <p:sp>
        <p:nvSpPr>
          <p:cNvPr id="45" name="Text 13"/>
          <p:cNvSpPr/>
          <p:nvPr/>
        </p:nvSpPr>
        <p:spPr>
          <a:xfrm>
            <a:off x="876300" y="4295775"/>
            <a:ext cx="4724698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두 API의 데이터 구조를 일치시키기 위한 데이터 변환 과정</a:t>
            </a:r>
            <a:endParaRPr lang="en-US" sz="1200" dirty="0"/>
          </a:p>
        </p:txBody>
      </p:sp>
      <p:sp>
        <p:nvSpPr>
          <p:cNvPr id="46" name="Text 14"/>
          <p:cNvSpPr/>
          <p:nvPr/>
        </p:nvSpPr>
        <p:spPr>
          <a:xfrm>
            <a:off x="6705600" y="3305175"/>
            <a:ext cx="51435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데이터 품질 보장</a:t>
            </a:r>
            <a:endParaRPr lang="en-US" sz="1500" dirty="0"/>
          </a:p>
        </p:txBody>
      </p:sp>
      <p:sp>
        <p:nvSpPr>
          <p:cNvPr id="47" name="Text 15"/>
          <p:cNvSpPr/>
          <p:nvPr/>
        </p:nvSpPr>
        <p:spPr>
          <a:xfrm>
            <a:off x="6629400" y="3686175"/>
            <a:ext cx="39624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정기적인 데이터 업데이트를 통해 최신 정보 유지</a:t>
            </a:r>
            <a:endParaRPr lang="en-US" sz="1200" dirty="0"/>
          </a:p>
        </p:txBody>
      </p:sp>
      <p:sp>
        <p:nvSpPr>
          <p:cNvPr id="48" name="Text 16"/>
          <p:cNvSpPr/>
          <p:nvPr/>
        </p:nvSpPr>
        <p:spPr>
          <a:xfrm>
            <a:off x="6629400" y="3990975"/>
            <a:ext cx="372885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데이터 일관성과 정확도를 위한 검증 메커니즘</a:t>
            </a:r>
            <a:endParaRPr lang="en-US" sz="1200" dirty="0"/>
          </a:p>
        </p:txBody>
      </p:sp>
      <p:sp>
        <p:nvSpPr>
          <p:cNvPr id="49" name="Text 17"/>
          <p:cNvSpPr/>
          <p:nvPr/>
        </p:nvSpPr>
        <p:spPr>
          <a:xfrm>
            <a:off x="6629400" y="4295775"/>
            <a:ext cx="35967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사용자 피드백을 통한 데이터 품질 지속 개선</a:t>
            </a:r>
            <a:endParaRPr lang="en-US" sz="1200" dirty="0"/>
          </a:p>
        </p:txBody>
      </p:sp>
      <p:sp>
        <p:nvSpPr>
          <p:cNvPr id="50" name="Text 18"/>
          <p:cNvSpPr/>
          <p:nvPr/>
        </p:nvSpPr>
        <p:spPr>
          <a:xfrm>
            <a:off x="11741944" y="6467475"/>
            <a:ext cx="311468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/ 8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4500" y="0"/>
            <a:ext cx="2857500" cy="2857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953000"/>
            <a:ext cx="1905000" cy="23812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914400"/>
            <a:ext cx="762000" cy="28575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1552575"/>
            <a:ext cx="3142804" cy="230505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95152" y="1781175"/>
            <a:ext cx="666750" cy="66675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47552" y="1943100"/>
            <a:ext cx="361950" cy="3429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5800" y="2981325"/>
            <a:ext cx="2685604" cy="6477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5800" y="3133725"/>
            <a:ext cx="152400" cy="1524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5800" y="3438525"/>
            <a:ext cx="152400" cy="1524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752404" y="2695575"/>
            <a:ext cx="619720" cy="1905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24524" y="1552575"/>
            <a:ext cx="3142804" cy="230505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762476" y="1781175"/>
            <a:ext cx="666750" cy="66675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952976" y="1943100"/>
            <a:ext cx="285750" cy="3429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53124" y="2981325"/>
            <a:ext cx="2685604" cy="6477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753124" y="3133725"/>
            <a:ext cx="152400" cy="1524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753124" y="3438525"/>
            <a:ext cx="152400" cy="1524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819727" y="2695575"/>
            <a:ext cx="619720" cy="1905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591848" y="1323975"/>
            <a:ext cx="3142804" cy="276225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829800" y="1552575"/>
            <a:ext cx="666750" cy="66675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020300" y="1714500"/>
            <a:ext cx="285750" cy="3429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820448" y="2752725"/>
            <a:ext cx="2685604" cy="11049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820448" y="2905125"/>
            <a:ext cx="152400" cy="1524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820448" y="3438525"/>
            <a:ext cx="152400" cy="152400"/>
          </a:xfrm>
          <a:prstGeom prst="rect">
            <a:avLst/>
          </a:prstGeom>
        </p:spPr>
      </p:pic>
      <p:sp>
        <p:nvSpPr>
          <p:cNvPr id="28" name="Text 0"/>
          <p:cNvSpPr/>
          <p:nvPr/>
        </p:nvSpPr>
        <p:spPr>
          <a:xfrm>
            <a:off x="457200" y="457200"/>
            <a:ext cx="112776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증상과 영양소 분석</a:t>
            </a:r>
            <a:endParaRPr lang="en-US" sz="2700" dirty="0"/>
          </a:p>
        </p:txBody>
      </p:sp>
      <p:sp>
        <p:nvSpPr>
          <p:cNvPr id="29" name="Text 1"/>
          <p:cNvSpPr/>
          <p:nvPr/>
        </p:nvSpPr>
        <p:spPr>
          <a:xfrm>
            <a:off x="685800" y="2600325"/>
            <a:ext cx="2685604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증상-영양소 매핑</a:t>
            </a:r>
            <a:endParaRPr lang="en-US" sz="1500" dirty="0"/>
          </a:p>
        </p:txBody>
      </p:sp>
      <p:sp>
        <p:nvSpPr>
          <p:cNvPr id="30" name="Text 2"/>
          <p:cNvSpPr/>
          <p:nvPr/>
        </p:nvSpPr>
        <p:spPr>
          <a:xfrm>
            <a:off x="914400" y="3095625"/>
            <a:ext cx="29464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사용자 증상과 관련된 영양소를 식별</a:t>
            </a:r>
            <a:endParaRPr lang="en-US" sz="1200" dirty="0"/>
          </a:p>
        </p:txBody>
      </p:sp>
      <p:sp>
        <p:nvSpPr>
          <p:cNvPr id="31" name="Text 3"/>
          <p:cNvSpPr/>
          <p:nvPr/>
        </p:nvSpPr>
        <p:spPr>
          <a:xfrm>
            <a:off x="914400" y="3400425"/>
            <a:ext cx="27635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증상에 적합한 영양 보충제를 매핑</a:t>
            </a:r>
            <a:endParaRPr lang="en-US" sz="1200" dirty="0"/>
          </a:p>
        </p:txBody>
      </p:sp>
      <p:sp>
        <p:nvSpPr>
          <p:cNvPr id="32" name="Text 4"/>
          <p:cNvSpPr/>
          <p:nvPr/>
        </p:nvSpPr>
        <p:spPr>
          <a:xfrm>
            <a:off x="4753124" y="2600325"/>
            <a:ext cx="2685604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증상+나이</a:t>
            </a: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500" b="1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분석</a:t>
            </a:r>
            <a:endParaRPr lang="en-US" sz="1500" dirty="0"/>
          </a:p>
        </p:txBody>
      </p:sp>
      <p:sp>
        <p:nvSpPr>
          <p:cNvPr id="33" name="Text 5"/>
          <p:cNvSpPr/>
          <p:nvPr/>
        </p:nvSpPr>
        <p:spPr>
          <a:xfrm>
            <a:off x="4981724" y="3095625"/>
            <a:ext cx="252995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증상과</a:t>
            </a: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나이를</a:t>
            </a: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결합하여 분석</a:t>
            </a:r>
            <a:endParaRPr lang="en-US" sz="1200" dirty="0"/>
          </a:p>
        </p:txBody>
      </p:sp>
      <p:sp>
        <p:nvSpPr>
          <p:cNvPr id="34" name="Text 6"/>
          <p:cNvSpPr/>
          <p:nvPr/>
        </p:nvSpPr>
        <p:spPr>
          <a:xfrm>
            <a:off x="4981724" y="3400425"/>
            <a:ext cx="234707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영양소에 대한 우선순위 설정</a:t>
            </a:r>
            <a:endParaRPr lang="en-US" sz="1200" dirty="0"/>
          </a:p>
        </p:txBody>
      </p:sp>
      <p:sp>
        <p:nvSpPr>
          <p:cNvPr id="35" name="Text 7"/>
          <p:cNvSpPr/>
          <p:nvPr/>
        </p:nvSpPr>
        <p:spPr>
          <a:xfrm>
            <a:off x="8820448" y="2371725"/>
            <a:ext cx="2685604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위험 영양소 필터링</a:t>
            </a:r>
            <a:endParaRPr lang="en-US" sz="1500" dirty="0"/>
          </a:p>
        </p:txBody>
      </p:sp>
      <p:sp>
        <p:nvSpPr>
          <p:cNvPr id="36" name="Text 8"/>
          <p:cNvSpPr/>
          <p:nvPr/>
        </p:nvSpPr>
        <p:spPr>
          <a:xfrm>
            <a:off x="9049048" y="2867025"/>
            <a:ext cx="2457004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사용자에게 해로울 수 있는 영양소 식별</a:t>
            </a:r>
            <a:endParaRPr lang="en-US" sz="1200" dirty="0"/>
          </a:p>
        </p:txBody>
      </p:sp>
      <p:sp>
        <p:nvSpPr>
          <p:cNvPr id="37" name="Text 9"/>
          <p:cNvSpPr/>
          <p:nvPr/>
        </p:nvSpPr>
        <p:spPr>
          <a:xfrm>
            <a:off x="9049048" y="3400425"/>
            <a:ext cx="2457004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안전하지 않은 영양소는 추천에서 제외</a:t>
            </a:r>
            <a:endParaRPr lang="en-US" sz="1200" dirty="0"/>
          </a:p>
        </p:txBody>
      </p:sp>
      <p:sp>
        <p:nvSpPr>
          <p:cNvPr id="38" name="Text 10"/>
          <p:cNvSpPr/>
          <p:nvPr/>
        </p:nvSpPr>
        <p:spPr>
          <a:xfrm>
            <a:off x="2314575" y="4733925"/>
            <a:ext cx="7820025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endParaRPr lang="en-US" sz="1200" dirty="0"/>
          </a:p>
        </p:txBody>
      </p:sp>
      <p:sp>
        <p:nvSpPr>
          <p:cNvPr id="39" name="Text 11"/>
          <p:cNvSpPr/>
          <p:nvPr/>
        </p:nvSpPr>
        <p:spPr>
          <a:xfrm>
            <a:off x="11741944" y="6467475"/>
            <a:ext cx="311468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 / 8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45" y="66675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4500" y="0"/>
            <a:ext cx="2857500" cy="2857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953000"/>
            <a:ext cx="1905000" cy="23812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914400"/>
            <a:ext cx="762000" cy="28575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1171575"/>
            <a:ext cx="5524500" cy="17145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7700" y="1362075"/>
            <a:ext cx="381000" cy="3810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6763" y="1419225"/>
            <a:ext cx="142875" cy="2667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7700" y="1895475"/>
            <a:ext cx="152400" cy="1524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7700" y="2200275"/>
            <a:ext cx="152400" cy="1524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7700" y="2505075"/>
            <a:ext cx="152400" cy="1524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7200" y="3038475"/>
            <a:ext cx="5524500" cy="3171825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99765" y="3000375"/>
            <a:ext cx="5372100" cy="3019425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10300" y="1171575"/>
            <a:ext cx="5524500" cy="11430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00800" y="1362075"/>
            <a:ext cx="381000" cy="3810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81763" y="1419225"/>
            <a:ext cx="219075" cy="2667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00800" y="1857375"/>
            <a:ext cx="754707" cy="2667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231707" y="1857375"/>
            <a:ext cx="762000" cy="2667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069907" y="1857375"/>
            <a:ext cx="762000" cy="2667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908107" y="1857375"/>
            <a:ext cx="495300" cy="2667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479607" y="1857375"/>
            <a:ext cx="762000" cy="2667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233815" y="2553353"/>
            <a:ext cx="5524500" cy="2524125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400800" y="2657475"/>
            <a:ext cx="381000" cy="3810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496050" y="2714625"/>
            <a:ext cx="190500" cy="2667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400800" y="3209925"/>
            <a:ext cx="114300" cy="1524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400800" y="3495675"/>
            <a:ext cx="114300" cy="1524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400800" y="3781425"/>
            <a:ext cx="114300" cy="1524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048750" y="2657475"/>
            <a:ext cx="381000" cy="3810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153525" y="2714625"/>
            <a:ext cx="171450" cy="26670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9048750" y="3209925"/>
            <a:ext cx="114300" cy="152400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9048750" y="3495675"/>
            <a:ext cx="114300" cy="152400"/>
          </a:xfrm>
          <a:prstGeom prst="rect">
            <a:avLst/>
          </a:prstGeom>
        </p:spPr>
      </p:pic>
      <p:pic>
        <p:nvPicPr>
          <p:cNvPr id="32" name="Image 30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9048750" y="3952875"/>
            <a:ext cx="114300" cy="152400"/>
          </a:xfrm>
          <a:prstGeom prst="rect">
            <a:avLst/>
          </a:prstGeom>
        </p:spPr>
      </p:pic>
      <p:sp>
        <p:nvSpPr>
          <p:cNvPr id="39" name="Text 0"/>
          <p:cNvSpPr/>
          <p:nvPr/>
        </p:nvSpPr>
        <p:spPr>
          <a:xfrm>
            <a:off x="457200" y="457200"/>
            <a:ext cx="112776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결과 요약 및 추천</a:t>
            </a:r>
            <a:endParaRPr lang="en-US" sz="2700" dirty="0"/>
          </a:p>
        </p:txBody>
      </p:sp>
      <p:sp>
        <p:nvSpPr>
          <p:cNvPr id="40" name="Text 1"/>
          <p:cNvSpPr/>
          <p:nvPr/>
        </p:nvSpPr>
        <p:spPr>
          <a:xfrm>
            <a:off x="1143000" y="1419225"/>
            <a:ext cx="149875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분석 결과 요약</a:t>
            </a:r>
            <a:endParaRPr lang="en-US" sz="1500" dirty="0"/>
          </a:p>
        </p:txBody>
      </p:sp>
      <p:sp>
        <p:nvSpPr>
          <p:cNvPr id="41" name="Text 2"/>
          <p:cNvSpPr/>
          <p:nvPr/>
        </p:nvSpPr>
        <p:spPr>
          <a:xfrm>
            <a:off x="876300" y="1857375"/>
            <a:ext cx="474487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사용자의 </a:t>
            </a:r>
            <a:r>
              <a:rPr lang="en-US" sz="1200" dirty="0" err="1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증상과</a:t>
            </a:r>
            <a:r>
              <a:rPr lang="en-US" sz="12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200" dirty="0" err="1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나이</a:t>
            </a:r>
            <a:r>
              <a:rPr lang="en-US" sz="12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분석을 통해 필요한 영양소를 식별</a:t>
            </a:r>
            <a:endParaRPr lang="en-US" sz="1200" dirty="0"/>
          </a:p>
        </p:txBody>
      </p:sp>
      <p:sp>
        <p:nvSpPr>
          <p:cNvPr id="42" name="Text 3"/>
          <p:cNvSpPr/>
          <p:nvPr/>
        </p:nvSpPr>
        <p:spPr>
          <a:xfrm>
            <a:off x="876300" y="2162175"/>
            <a:ext cx="372885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위험한 영양소 조합을 필터링하여 안전성 보장</a:t>
            </a:r>
            <a:endParaRPr lang="en-US" sz="1200" dirty="0"/>
          </a:p>
        </p:txBody>
      </p:sp>
      <p:sp>
        <p:nvSpPr>
          <p:cNvPr id="43" name="Text 4"/>
          <p:cNvSpPr/>
          <p:nvPr/>
        </p:nvSpPr>
        <p:spPr>
          <a:xfrm>
            <a:off x="876300" y="2466975"/>
            <a:ext cx="252995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개인화된 영양소 우선순위 설정</a:t>
            </a:r>
            <a:endParaRPr lang="en-US" sz="1200" dirty="0"/>
          </a:p>
        </p:txBody>
      </p:sp>
      <p:sp>
        <p:nvSpPr>
          <p:cNvPr id="44" name="Text 5"/>
          <p:cNvSpPr/>
          <p:nvPr/>
        </p:nvSpPr>
        <p:spPr>
          <a:xfrm>
            <a:off x="6896100" y="1419225"/>
            <a:ext cx="120657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추천 영양소</a:t>
            </a:r>
            <a:endParaRPr lang="en-US" sz="1500" dirty="0"/>
          </a:p>
        </p:txBody>
      </p:sp>
      <p:sp>
        <p:nvSpPr>
          <p:cNvPr id="45" name="Text 6"/>
          <p:cNvSpPr/>
          <p:nvPr/>
        </p:nvSpPr>
        <p:spPr>
          <a:xfrm>
            <a:off x="6515100" y="1857375"/>
            <a:ext cx="90564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비타민 A</a:t>
            </a:r>
            <a:endParaRPr lang="en-US" sz="1050" dirty="0"/>
          </a:p>
        </p:txBody>
      </p:sp>
      <p:sp>
        <p:nvSpPr>
          <p:cNvPr id="46" name="Text 7"/>
          <p:cNvSpPr/>
          <p:nvPr/>
        </p:nvSpPr>
        <p:spPr>
          <a:xfrm>
            <a:off x="7346007" y="1857375"/>
            <a:ext cx="9144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비타민 C</a:t>
            </a:r>
            <a:endParaRPr lang="en-US" sz="1050" dirty="0"/>
          </a:p>
        </p:txBody>
      </p:sp>
      <p:sp>
        <p:nvSpPr>
          <p:cNvPr id="47" name="Text 8"/>
          <p:cNvSpPr/>
          <p:nvPr/>
        </p:nvSpPr>
        <p:spPr>
          <a:xfrm>
            <a:off x="8184207" y="1857375"/>
            <a:ext cx="9144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비타민 D</a:t>
            </a:r>
            <a:endParaRPr lang="en-US" sz="1050" dirty="0"/>
          </a:p>
        </p:txBody>
      </p:sp>
      <p:sp>
        <p:nvSpPr>
          <p:cNvPr id="48" name="Text 9"/>
          <p:cNvSpPr/>
          <p:nvPr/>
        </p:nvSpPr>
        <p:spPr>
          <a:xfrm>
            <a:off x="9022407" y="1857375"/>
            <a:ext cx="4953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칼슘</a:t>
            </a:r>
            <a:endParaRPr lang="en-US" sz="1050" dirty="0"/>
          </a:p>
        </p:txBody>
      </p:sp>
      <p:sp>
        <p:nvSpPr>
          <p:cNvPr id="49" name="Text 10"/>
          <p:cNvSpPr/>
          <p:nvPr/>
        </p:nvSpPr>
        <p:spPr>
          <a:xfrm>
            <a:off x="9593907" y="1857375"/>
            <a:ext cx="7620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마그네슘</a:t>
            </a:r>
            <a:endParaRPr lang="en-US" sz="1050" dirty="0"/>
          </a:p>
        </p:txBody>
      </p:sp>
      <p:sp>
        <p:nvSpPr>
          <p:cNvPr id="50" name="Text 11"/>
          <p:cNvSpPr/>
          <p:nvPr/>
        </p:nvSpPr>
        <p:spPr>
          <a:xfrm>
            <a:off x="6858000" y="2714625"/>
            <a:ext cx="41148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효능</a:t>
            </a:r>
            <a:endParaRPr lang="en-US" sz="1350" dirty="0"/>
          </a:p>
        </p:txBody>
      </p:sp>
      <p:sp>
        <p:nvSpPr>
          <p:cNvPr id="51" name="Text 12"/>
          <p:cNvSpPr/>
          <p:nvPr/>
        </p:nvSpPr>
        <p:spPr>
          <a:xfrm>
            <a:off x="6591300" y="3152775"/>
            <a:ext cx="120908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에너지 수준 향상</a:t>
            </a:r>
            <a:endParaRPr lang="en-US" sz="1050" dirty="0"/>
          </a:p>
        </p:txBody>
      </p:sp>
      <p:sp>
        <p:nvSpPr>
          <p:cNvPr id="52" name="Text 13"/>
          <p:cNvSpPr/>
          <p:nvPr/>
        </p:nvSpPr>
        <p:spPr>
          <a:xfrm>
            <a:off x="6591300" y="3438525"/>
            <a:ext cx="104906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면역 체계 강화</a:t>
            </a:r>
            <a:endParaRPr lang="en-US" sz="1050" dirty="0"/>
          </a:p>
        </p:txBody>
      </p:sp>
      <p:sp>
        <p:nvSpPr>
          <p:cNvPr id="53" name="Text 14"/>
          <p:cNvSpPr/>
          <p:nvPr/>
        </p:nvSpPr>
        <p:spPr>
          <a:xfrm>
            <a:off x="6591300" y="3724275"/>
            <a:ext cx="125355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운동 후 회복 촉진</a:t>
            </a:r>
            <a:endParaRPr lang="en-US" sz="1050" dirty="0"/>
          </a:p>
        </p:txBody>
      </p:sp>
      <p:sp>
        <p:nvSpPr>
          <p:cNvPr id="54" name="Text 15"/>
          <p:cNvSpPr/>
          <p:nvPr/>
        </p:nvSpPr>
        <p:spPr>
          <a:xfrm>
            <a:off x="9505950" y="2714625"/>
            <a:ext cx="108602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안전성 경고</a:t>
            </a:r>
            <a:endParaRPr lang="en-US" sz="1350" dirty="0"/>
          </a:p>
        </p:txBody>
      </p:sp>
      <p:sp>
        <p:nvSpPr>
          <p:cNvPr id="55" name="Text 16"/>
          <p:cNvSpPr/>
          <p:nvPr/>
        </p:nvSpPr>
        <p:spPr>
          <a:xfrm>
            <a:off x="9239250" y="3152775"/>
            <a:ext cx="2142589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과다 섭취 시 부작용 발생 가능</a:t>
            </a:r>
            <a:endParaRPr lang="en-US" sz="1050" dirty="0"/>
          </a:p>
        </p:txBody>
      </p:sp>
      <p:sp>
        <p:nvSpPr>
          <p:cNvPr id="56" name="Text 17"/>
          <p:cNvSpPr/>
          <p:nvPr/>
        </p:nvSpPr>
        <p:spPr>
          <a:xfrm>
            <a:off x="9239250" y="3438525"/>
            <a:ext cx="230505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특정 질병 환자에게는 금지된 영양소 포함</a:t>
            </a:r>
            <a:endParaRPr lang="en-US" sz="1050" dirty="0"/>
          </a:p>
        </p:txBody>
      </p:sp>
      <p:sp>
        <p:nvSpPr>
          <p:cNvPr id="57" name="Text 18"/>
          <p:cNvSpPr/>
          <p:nvPr/>
        </p:nvSpPr>
        <p:spPr>
          <a:xfrm>
            <a:off x="9239250" y="3895725"/>
            <a:ext cx="221367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약물과의 상호작용 가능성 있음</a:t>
            </a:r>
            <a:endParaRPr lang="en-US" sz="1050" dirty="0"/>
          </a:p>
        </p:txBody>
      </p:sp>
      <p:sp>
        <p:nvSpPr>
          <p:cNvPr id="58" name="Text 19"/>
          <p:cNvSpPr/>
          <p:nvPr/>
        </p:nvSpPr>
        <p:spPr>
          <a:xfrm>
            <a:off x="6896100" y="5391150"/>
            <a:ext cx="172735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endParaRPr lang="en-US" sz="1500" dirty="0"/>
          </a:p>
        </p:txBody>
      </p:sp>
      <p:sp>
        <p:nvSpPr>
          <p:cNvPr id="59" name="Text 20"/>
          <p:cNvSpPr/>
          <p:nvPr/>
        </p:nvSpPr>
        <p:spPr>
          <a:xfrm>
            <a:off x="6610350" y="5829300"/>
            <a:ext cx="1885057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endParaRPr lang="en-US" sz="1050" dirty="0"/>
          </a:p>
        </p:txBody>
      </p:sp>
      <p:sp>
        <p:nvSpPr>
          <p:cNvPr id="60" name="Text 21"/>
          <p:cNvSpPr/>
          <p:nvPr/>
        </p:nvSpPr>
        <p:spPr>
          <a:xfrm>
            <a:off x="8551366" y="5829300"/>
            <a:ext cx="1164788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endParaRPr lang="en-US" sz="1050" dirty="0"/>
          </a:p>
        </p:txBody>
      </p:sp>
      <p:sp>
        <p:nvSpPr>
          <p:cNvPr id="61" name="Text 22"/>
          <p:cNvSpPr/>
          <p:nvPr/>
        </p:nvSpPr>
        <p:spPr>
          <a:xfrm>
            <a:off x="9892159" y="5829300"/>
            <a:ext cx="1982569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endParaRPr lang="en-US" sz="1050" dirty="0"/>
          </a:p>
        </p:txBody>
      </p:sp>
      <p:sp>
        <p:nvSpPr>
          <p:cNvPr id="62" name="Text 23"/>
          <p:cNvSpPr/>
          <p:nvPr/>
        </p:nvSpPr>
        <p:spPr>
          <a:xfrm>
            <a:off x="11741944" y="6467475"/>
            <a:ext cx="311468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 / 8</a:t>
            </a:r>
            <a:endParaRPr lang="en-US" sz="105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68973B3-898D-B525-CB9A-5E5932CFBFFC}"/>
              </a:ext>
            </a:extLst>
          </p:cNvPr>
          <p:cNvSpPr txBox="1"/>
          <p:nvPr/>
        </p:nvSpPr>
        <p:spPr>
          <a:xfrm>
            <a:off x="5914873" y="5313997"/>
            <a:ext cx="591414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ko-KR" dirty="0">
                <a:solidFill>
                  <a:schemeClr val="bg1"/>
                </a:solidFill>
              </a:rPr>
              <a:t>(</a:t>
            </a:r>
            <a:r>
              <a:rPr lang="ko-KR" altLang="en-US" dirty="0">
                <a:solidFill>
                  <a:schemeClr val="bg1"/>
                </a:solidFill>
              </a:rPr>
              <a:t>시스템의 내부 동작 과정</a:t>
            </a:r>
            <a:r>
              <a:rPr lang="en-US" altLang="ko-KR" dirty="0">
                <a:solidFill>
                  <a:schemeClr val="bg1"/>
                </a:solidFill>
              </a:rPr>
              <a:t>)</a:t>
            </a:r>
            <a:endParaRPr lang="en" altLang="ko-KR" dirty="0">
              <a:solidFill>
                <a:schemeClr val="bg1"/>
              </a:solidFill>
            </a:endParaRPr>
          </a:p>
          <a:p>
            <a:r>
              <a:rPr lang="en" altLang="ko-KR" dirty="0">
                <a:solidFill>
                  <a:schemeClr val="bg1"/>
                </a:solidFill>
              </a:rPr>
              <a:t>RAG: "</a:t>
            </a:r>
            <a:r>
              <a:rPr lang="ko-KR" altLang="en-US" dirty="0">
                <a:solidFill>
                  <a:schemeClr val="bg1"/>
                </a:solidFill>
              </a:rPr>
              <a:t>마그네슘은 눈 떨림에 효과적입니다</a:t>
            </a:r>
            <a:r>
              <a:rPr lang="en-US" altLang="ko-KR" dirty="0">
                <a:solidFill>
                  <a:schemeClr val="bg1"/>
                </a:solidFill>
              </a:rPr>
              <a:t>."  =&gt; </a:t>
            </a:r>
            <a:r>
              <a:rPr lang="ko-KR" altLang="en-US" dirty="0">
                <a:solidFill>
                  <a:schemeClr val="bg1"/>
                </a:solidFill>
              </a:rPr>
              <a:t>추천</a:t>
            </a:r>
            <a:r>
              <a:rPr lang="en-US" altLang="ko-KR" dirty="0">
                <a:solidFill>
                  <a:schemeClr val="bg1"/>
                </a:solidFill>
              </a:rPr>
              <a:t>)</a:t>
            </a:r>
          </a:p>
          <a:p>
            <a:r>
              <a:rPr lang="ko-KR" altLang="en-US" dirty="0">
                <a:solidFill>
                  <a:schemeClr val="bg1"/>
                </a:solidFill>
              </a:rPr>
              <a:t>심평원 </a:t>
            </a:r>
            <a:r>
              <a:rPr lang="en" altLang="ko-KR" dirty="0">
                <a:solidFill>
                  <a:schemeClr val="bg1"/>
                </a:solidFill>
              </a:rPr>
              <a:t>API: "</a:t>
            </a:r>
            <a:r>
              <a:rPr lang="ko-KR" altLang="en-US" dirty="0">
                <a:solidFill>
                  <a:schemeClr val="bg1"/>
                </a:solidFill>
              </a:rPr>
              <a:t>사용자는 </a:t>
            </a:r>
            <a:r>
              <a:rPr lang="ko-KR" altLang="en-US" b="1" dirty="0">
                <a:solidFill>
                  <a:schemeClr val="bg1"/>
                </a:solidFill>
              </a:rPr>
              <a:t>심장약</a:t>
            </a:r>
            <a:r>
              <a:rPr lang="ko-KR" altLang="en-US" dirty="0">
                <a:solidFill>
                  <a:schemeClr val="bg1"/>
                </a:solidFill>
              </a:rPr>
              <a:t>을 복용 중입니다</a:t>
            </a:r>
            <a:r>
              <a:rPr lang="en-US" altLang="ko-KR" dirty="0">
                <a:solidFill>
                  <a:schemeClr val="bg1"/>
                </a:solidFill>
              </a:rPr>
              <a:t>."</a:t>
            </a:r>
          </a:p>
          <a:p>
            <a:r>
              <a:rPr lang="ko-KR" altLang="en-US" dirty="0" err="1">
                <a:solidFill>
                  <a:schemeClr val="bg1"/>
                </a:solidFill>
              </a:rPr>
              <a:t>식약처</a:t>
            </a:r>
            <a:r>
              <a:rPr lang="ko-KR" altLang="en-US" dirty="0">
                <a:solidFill>
                  <a:schemeClr val="bg1"/>
                </a:solidFill>
              </a:rPr>
              <a:t> </a:t>
            </a:r>
            <a:r>
              <a:rPr lang="en" altLang="ko-KR" dirty="0">
                <a:solidFill>
                  <a:schemeClr val="bg1"/>
                </a:solidFill>
              </a:rPr>
              <a:t>API: "</a:t>
            </a:r>
            <a:r>
              <a:rPr lang="ko-KR" altLang="en-US" b="1" dirty="0">
                <a:solidFill>
                  <a:schemeClr val="bg1"/>
                </a:solidFill>
              </a:rPr>
              <a:t>심장약</a:t>
            </a:r>
            <a:r>
              <a:rPr lang="ko-KR" altLang="en-US" dirty="0">
                <a:solidFill>
                  <a:schemeClr val="bg1"/>
                </a:solidFill>
              </a:rPr>
              <a:t>은 마그네슘과 상호작용 위험이 있음</a:t>
            </a:r>
            <a:r>
              <a:rPr lang="en-US" altLang="ko-KR" dirty="0">
                <a:solidFill>
                  <a:schemeClr val="bg1"/>
                </a:solidFill>
              </a:rPr>
              <a:t>.” =&gt; </a:t>
            </a:r>
            <a:r>
              <a:rPr lang="ko-KR" altLang="en-US" dirty="0">
                <a:solidFill>
                  <a:schemeClr val="bg1"/>
                </a:solidFill>
              </a:rPr>
              <a:t>경고</a:t>
            </a:r>
            <a:endParaRPr lang="en-US" altLang="ko-KR" dirty="0">
              <a:solidFill>
                <a:schemeClr val="bg1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832E0CB-568F-E3AF-ADC2-A467C680B00F}"/>
              </a:ext>
            </a:extLst>
          </p:cNvPr>
          <p:cNvSpPr txBox="1"/>
          <p:nvPr/>
        </p:nvSpPr>
        <p:spPr>
          <a:xfrm>
            <a:off x="5946054" y="4070952"/>
            <a:ext cx="319585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dirty="0">
                <a:solidFill>
                  <a:schemeClr val="bg1"/>
                </a:solidFill>
              </a:rPr>
              <a:t>사용자의 프롬프트</a:t>
            </a:r>
            <a:r>
              <a:rPr kumimoji="1" lang="en-US" altLang="ko-KR" dirty="0"/>
              <a:t>:</a:t>
            </a:r>
            <a:r>
              <a:rPr kumimoji="1" lang="en-US" altLang="ko-KR" dirty="0">
                <a:solidFill>
                  <a:schemeClr val="bg1"/>
                </a:solidFill>
              </a:rPr>
              <a:t>:</a:t>
            </a:r>
          </a:p>
          <a:p>
            <a:r>
              <a:rPr kumimoji="1" lang="en-US" altLang="ko-KR" dirty="0">
                <a:solidFill>
                  <a:schemeClr val="bg1"/>
                </a:solidFill>
              </a:rPr>
              <a:t>“</a:t>
            </a:r>
            <a:r>
              <a:rPr kumimoji="1" lang="ko-KR" altLang="en-US" dirty="0">
                <a:solidFill>
                  <a:schemeClr val="bg1"/>
                </a:solidFill>
              </a:rPr>
              <a:t>제 나이는 </a:t>
            </a:r>
            <a:r>
              <a:rPr kumimoji="1" lang="en-US" altLang="ko-KR" dirty="0">
                <a:solidFill>
                  <a:schemeClr val="bg1"/>
                </a:solidFill>
              </a:rPr>
              <a:t>3</a:t>
            </a:r>
            <a:r>
              <a:rPr kumimoji="1" lang="ko-KR" altLang="en-US" dirty="0">
                <a:solidFill>
                  <a:schemeClr val="bg1"/>
                </a:solidFill>
              </a:rPr>
              <a:t>살이고 </a:t>
            </a:r>
            <a:endParaRPr kumimoji="1" lang="en-US" altLang="ko-KR" dirty="0">
              <a:solidFill>
                <a:schemeClr val="bg1"/>
              </a:solidFill>
            </a:endParaRPr>
          </a:p>
          <a:p>
            <a:r>
              <a:rPr kumimoji="1" lang="ko-KR" altLang="en-US" dirty="0">
                <a:solidFill>
                  <a:schemeClr val="bg1"/>
                </a:solidFill>
              </a:rPr>
              <a:t>자꾸 눈 밑이 </a:t>
            </a:r>
            <a:r>
              <a:rPr kumimoji="1" lang="ko-KR" altLang="en-US" dirty="0" err="1">
                <a:solidFill>
                  <a:schemeClr val="bg1"/>
                </a:solidFill>
              </a:rPr>
              <a:t>떨려요</a:t>
            </a:r>
            <a:r>
              <a:rPr kumimoji="1" lang="en-US" altLang="ko-KR" dirty="0">
                <a:solidFill>
                  <a:schemeClr val="bg1"/>
                </a:solidFill>
              </a:rPr>
              <a:t>. </a:t>
            </a:r>
          </a:p>
          <a:p>
            <a:r>
              <a:rPr kumimoji="1" lang="ko-KR" altLang="en-US" dirty="0">
                <a:solidFill>
                  <a:schemeClr val="bg1"/>
                </a:solidFill>
              </a:rPr>
              <a:t>현재</a:t>
            </a:r>
            <a:r>
              <a:rPr kumimoji="1" lang="en-US" altLang="ko-KR" dirty="0">
                <a:solidFill>
                  <a:schemeClr val="bg1"/>
                </a:solidFill>
              </a:rPr>
              <a:t> </a:t>
            </a:r>
            <a:r>
              <a:rPr kumimoji="1" lang="ko-KR" altLang="en-US" dirty="0">
                <a:solidFill>
                  <a:schemeClr val="bg1"/>
                </a:solidFill>
              </a:rPr>
              <a:t>심장약을 먹고 있어요</a:t>
            </a:r>
            <a:r>
              <a:rPr kumimoji="1" lang="en-US" altLang="ko-KR" dirty="0">
                <a:solidFill>
                  <a:schemeClr val="bg1"/>
                </a:solidFill>
              </a:rPr>
              <a:t>.”</a:t>
            </a:r>
            <a:endParaRPr kumimoji="1" lang="en-US" altLang="ko-KR" dirty="0"/>
          </a:p>
          <a:p>
            <a:r>
              <a:rPr kumimoji="1" lang="en-US" altLang="ko-KR" dirty="0"/>
              <a:t>.</a:t>
            </a:r>
            <a:endParaRPr kumimoji="1" lang="ko-KR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4500" y="0"/>
            <a:ext cx="2857500" cy="2857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953000"/>
            <a:ext cx="1905000" cy="23812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914400"/>
            <a:ext cx="762000" cy="28575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1247775"/>
            <a:ext cx="1438424" cy="4191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" y="1381125"/>
            <a:ext cx="133350" cy="1524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" y="2185988"/>
            <a:ext cx="11277600" cy="28575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200" y="1971675"/>
            <a:ext cx="190500" cy="1905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674590" y="1971675"/>
            <a:ext cx="190500" cy="1905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91980" y="1971675"/>
            <a:ext cx="190500" cy="1905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109371" y="1971675"/>
            <a:ext cx="190500" cy="1905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326761" y="1971675"/>
            <a:ext cx="190500" cy="1905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544151" y="1971675"/>
            <a:ext cx="190500" cy="190500"/>
          </a:xfrm>
          <a:prstGeom prst="rect">
            <a:avLst/>
          </a:prstGeom>
        </p:spPr>
      </p:pic>
      <p:sp>
        <p:nvSpPr>
          <p:cNvPr id="35" name="Text 0"/>
          <p:cNvSpPr/>
          <p:nvPr/>
        </p:nvSpPr>
        <p:spPr>
          <a:xfrm>
            <a:off x="457200" y="457200"/>
            <a:ext cx="112776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프로젝트 진행 계획</a:t>
            </a:r>
            <a:endParaRPr lang="en-US" sz="2700" dirty="0"/>
          </a:p>
        </p:txBody>
      </p:sp>
      <p:sp>
        <p:nvSpPr>
          <p:cNvPr id="36" name="Text 1"/>
          <p:cNvSpPr/>
          <p:nvPr/>
        </p:nvSpPr>
        <p:spPr>
          <a:xfrm>
            <a:off x="819150" y="1323975"/>
            <a:ext cx="110888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총 기간: 6주</a:t>
            </a:r>
            <a:endParaRPr lang="en-US" sz="1350" dirty="0"/>
          </a:p>
        </p:txBody>
      </p:sp>
      <p:sp>
        <p:nvSpPr>
          <p:cNvPr id="37" name="Text 2"/>
          <p:cNvSpPr/>
          <p:nvPr/>
        </p:nvSpPr>
        <p:spPr>
          <a:xfrm>
            <a:off x="223421" y="2228850"/>
            <a:ext cx="467558" cy="1619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1주차</a:t>
            </a:r>
            <a:endParaRPr lang="en-US" sz="1200" dirty="0"/>
          </a:p>
        </p:txBody>
      </p:sp>
      <p:sp>
        <p:nvSpPr>
          <p:cNvPr id="38" name="Text 3"/>
          <p:cNvSpPr/>
          <p:nvPr/>
        </p:nvSpPr>
        <p:spPr>
          <a:xfrm>
            <a:off x="2402711" y="2228850"/>
            <a:ext cx="467558" cy="1619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2주차</a:t>
            </a:r>
            <a:endParaRPr lang="en-US" sz="1200" dirty="0"/>
          </a:p>
        </p:txBody>
      </p:sp>
      <p:sp>
        <p:nvSpPr>
          <p:cNvPr id="39" name="Text 4"/>
          <p:cNvSpPr/>
          <p:nvPr/>
        </p:nvSpPr>
        <p:spPr>
          <a:xfrm>
            <a:off x="4582001" y="2228850"/>
            <a:ext cx="467558" cy="1619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3주차</a:t>
            </a:r>
            <a:endParaRPr lang="en-US" sz="1200" dirty="0"/>
          </a:p>
        </p:txBody>
      </p:sp>
      <p:sp>
        <p:nvSpPr>
          <p:cNvPr id="40" name="Text 5"/>
          <p:cNvSpPr/>
          <p:nvPr/>
        </p:nvSpPr>
        <p:spPr>
          <a:xfrm>
            <a:off x="6761291" y="2228850"/>
            <a:ext cx="467558" cy="1619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4주차</a:t>
            </a:r>
            <a:endParaRPr lang="en-US" sz="1200" dirty="0"/>
          </a:p>
        </p:txBody>
      </p:sp>
      <p:sp>
        <p:nvSpPr>
          <p:cNvPr id="41" name="Text 6"/>
          <p:cNvSpPr/>
          <p:nvPr/>
        </p:nvSpPr>
        <p:spPr>
          <a:xfrm>
            <a:off x="8940582" y="2228850"/>
            <a:ext cx="467558" cy="1619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5주차</a:t>
            </a:r>
            <a:endParaRPr lang="en-US" sz="1200" dirty="0"/>
          </a:p>
        </p:txBody>
      </p:sp>
      <p:sp>
        <p:nvSpPr>
          <p:cNvPr id="42" name="Text 7"/>
          <p:cNvSpPr/>
          <p:nvPr/>
        </p:nvSpPr>
        <p:spPr>
          <a:xfrm>
            <a:off x="11119872" y="2228850"/>
            <a:ext cx="467558" cy="1619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6주차</a:t>
            </a:r>
            <a:endParaRPr lang="en-US" sz="1200" dirty="0"/>
          </a:p>
        </p:txBody>
      </p:sp>
      <p:sp>
        <p:nvSpPr>
          <p:cNvPr id="43" name="Text 8"/>
          <p:cNvSpPr/>
          <p:nvPr/>
        </p:nvSpPr>
        <p:spPr>
          <a:xfrm>
            <a:off x="1028700" y="3057525"/>
            <a:ext cx="127015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endParaRPr lang="en-US" sz="1500" dirty="0"/>
          </a:p>
        </p:txBody>
      </p:sp>
      <p:sp>
        <p:nvSpPr>
          <p:cNvPr id="44" name="Text 9"/>
          <p:cNvSpPr/>
          <p:nvPr/>
        </p:nvSpPr>
        <p:spPr>
          <a:xfrm>
            <a:off x="952500" y="3419475"/>
            <a:ext cx="143267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endParaRPr lang="en-US" sz="1200" dirty="0"/>
          </a:p>
        </p:txBody>
      </p:sp>
      <p:sp>
        <p:nvSpPr>
          <p:cNvPr id="45" name="Text 10"/>
          <p:cNvSpPr/>
          <p:nvPr/>
        </p:nvSpPr>
        <p:spPr>
          <a:xfrm>
            <a:off x="952500" y="3724275"/>
            <a:ext cx="23978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endParaRPr lang="en-US" sz="1200" dirty="0"/>
          </a:p>
        </p:txBody>
      </p:sp>
      <p:sp>
        <p:nvSpPr>
          <p:cNvPr id="46" name="Text 11"/>
          <p:cNvSpPr/>
          <p:nvPr/>
        </p:nvSpPr>
        <p:spPr>
          <a:xfrm>
            <a:off x="952500" y="4029075"/>
            <a:ext cx="1788438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endParaRPr lang="en-US" sz="1200" dirty="0"/>
          </a:p>
        </p:txBody>
      </p:sp>
      <p:sp>
        <p:nvSpPr>
          <p:cNvPr id="47" name="Text 12"/>
          <p:cNvSpPr/>
          <p:nvPr/>
        </p:nvSpPr>
        <p:spPr>
          <a:xfrm>
            <a:off x="4838700" y="3057525"/>
            <a:ext cx="97797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endParaRPr lang="en-US" sz="1500" dirty="0"/>
          </a:p>
        </p:txBody>
      </p:sp>
      <p:sp>
        <p:nvSpPr>
          <p:cNvPr id="48" name="Text 13"/>
          <p:cNvSpPr/>
          <p:nvPr/>
        </p:nvSpPr>
        <p:spPr>
          <a:xfrm>
            <a:off x="4762500" y="3419475"/>
            <a:ext cx="179843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endParaRPr lang="en-US" sz="1200" dirty="0"/>
          </a:p>
        </p:txBody>
      </p:sp>
      <p:sp>
        <p:nvSpPr>
          <p:cNvPr id="49" name="Text 14"/>
          <p:cNvSpPr/>
          <p:nvPr/>
        </p:nvSpPr>
        <p:spPr>
          <a:xfrm>
            <a:off x="4878004" y="3724275"/>
            <a:ext cx="22251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endParaRPr lang="en-US" sz="1200" dirty="0"/>
          </a:p>
        </p:txBody>
      </p:sp>
      <p:sp>
        <p:nvSpPr>
          <p:cNvPr id="50" name="Text 15"/>
          <p:cNvSpPr/>
          <p:nvPr/>
        </p:nvSpPr>
        <p:spPr>
          <a:xfrm>
            <a:off x="4762500" y="4029075"/>
            <a:ext cx="19304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endParaRPr lang="en-US" sz="1200" dirty="0"/>
          </a:p>
        </p:txBody>
      </p:sp>
      <p:sp>
        <p:nvSpPr>
          <p:cNvPr id="51" name="Text 16"/>
          <p:cNvSpPr/>
          <p:nvPr/>
        </p:nvSpPr>
        <p:spPr>
          <a:xfrm>
            <a:off x="8648700" y="3057525"/>
            <a:ext cx="149875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endParaRPr lang="en-US" sz="1500" dirty="0"/>
          </a:p>
        </p:txBody>
      </p:sp>
      <p:sp>
        <p:nvSpPr>
          <p:cNvPr id="52" name="Text 17"/>
          <p:cNvSpPr/>
          <p:nvPr/>
        </p:nvSpPr>
        <p:spPr>
          <a:xfrm>
            <a:off x="8572500" y="3419475"/>
            <a:ext cx="179843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endParaRPr lang="en-US" sz="1200" dirty="0"/>
          </a:p>
        </p:txBody>
      </p:sp>
      <p:sp>
        <p:nvSpPr>
          <p:cNvPr id="53" name="Text 18"/>
          <p:cNvSpPr/>
          <p:nvPr/>
        </p:nvSpPr>
        <p:spPr>
          <a:xfrm>
            <a:off x="8572500" y="3724275"/>
            <a:ext cx="15646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endParaRPr lang="en-US" sz="1200" dirty="0"/>
          </a:p>
        </p:txBody>
      </p:sp>
      <p:sp>
        <p:nvSpPr>
          <p:cNvPr id="54" name="Text 19"/>
          <p:cNvSpPr/>
          <p:nvPr/>
        </p:nvSpPr>
        <p:spPr>
          <a:xfrm>
            <a:off x="8572500" y="4029075"/>
            <a:ext cx="198131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endParaRPr lang="en-US" sz="1200" dirty="0"/>
          </a:p>
        </p:txBody>
      </p:sp>
      <p:sp>
        <p:nvSpPr>
          <p:cNvPr id="55" name="Text 20"/>
          <p:cNvSpPr/>
          <p:nvPr/>
        </p:nvSpPr>
        <p:spPr>
          <a:xfrm>
            <a:off x="914400" y="4886325"/>
            <a:ext cx="7579697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endParaRPr lang="en-US" sz="1200" dirty="0"/>
          </a:p>
        </p:txBody>
      </p:sp>
      <p:sp>
        <p:nvSpPr>
          <p:cNvPr id="56" name="Text 21"/>
          <p:cNvSpPr/>
          <p:nvPr/>
        </p:nvSpPr>
        <p:spPr>
          <a:xfrm>
            <a:off x="11741944" y="6467475"/>
            <a:ext cx="311468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 / 8</a:t>
            </a:r>
            <a:endParaRPr lang="en-US" sz="105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CF5AB67-C236-150C-7847-88A426DBCE47}"/>
              </a:ext>
            </a:extLst>
          </p:cNvPr>
          <p:cNvSpPr txBox="1"/>
          <p:nvPr/>
        </p:nvSpPr>
        <p:spPr>
          <a:xfrm>
            <a:off x="223421" y="2667000"/>
            <a:ext cx="1182999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chemeClr val="bg1"/>
                </a:solidFill>
              </a:rPr>
              <a:t>1</a:t>
            </a:r>
            <a:r>
              <a:rPr lang="ko-KR" altLang="en-US" sz="2400" dirty="0">
                <a:solidFill>
                  <a:schemeClr val="bg1"/>
                </a:solidFill>
              </a:rPr>
              <a:t>주차</a:t>
            </a:r>
            <a:r>
              <a:rPr lang="en-US" altLang="ko-KR" sz="2400" dirty="0">
                <a:solidFill>
                  <a:schemeClr val="bg1"/>
                </a:solidFill>
              </a:rPr>
              <a:t>~2</a:t>
            </a:r>
            <a:r>
              <a:rPr lang="ko-KR" altLang="en-US" sz="2400" dirty="0">
                <a:solidFill>
                  <a:schemeClr val="bg1"/>
                </a:solidFill>
              </a:rPr>
              <a:t>주차</a:t>
            </a:r>
            <a:r>
              <a:rPr lang="en-US" altLang="ko-KR" sz="2400" dirty="0">
                <a:solidFill>
                  <a:schemeClr val="bg1"/>
                </a:solidFill>
              </a:rPr>
              <a:t>: </a:t>
            </a:r>
            <a:r>
              <a:rPr lang="ko-KR" altLang="en-US" sz="2400" dirty="0">
                <a:solidFill>
                  <a:schemeClr val="bg1"/>
                </a:solidFill>
              </a:rPr>
              <a:t>자료를 기반으로 한 </a:t>
            </a:r>
            <a:r>
              <a:rPr lang="en-US" altLang="ko-KR" sz="2400" dirty="0">
                <a:solidFill>
                  <a:schemeClr val="bg1"/>
                </a:solidFill>
              </a:rPr>
              <a:t>RAG </a:t>
            </a:r>
            <a:r>
              <a:rPr lang="ko-KR" altLang="en-US" sz="2400" dirty="0">
                <a:solidFill>
                  <a:schemeClr val="bg1"/>
                </a:solidFill>
              </a:rPr>
              <a:t>구축</a:t>
            </a:r>
            <a:endParaRPr lang="en-US" altLang="ko-KR" sz="2400" dirty="0">
              <a:solidFill>
                <a:schemeClr val="bg1"/>
              </a:solidFill>
            </a:endParaRPr>
          </a:p>
          <a:p>
            <a:r>
              <a:rPr lang="en-US" altLang="ko-KR" sz="2400" dirty="0">
                <a:solidFill>
                  <a:schemeClr val="bg1"/>
                </a:solidFill>
              </a:rPr>
              <a:t>		2</a:t>
            </a:r>
            <a:r>
              <a:rPr lang="ko-KR" altLang="en-US" sz="2400" dirty="0">
                <a:solidFill>
                  <a:schemeClr val="bg1"/>
                </a:solidFill>
              </a:rPr>
              <a:t>주차</a:t>
            </a:r>
            <a:r>
              <a:rPr lang="en-US" altLang="ko-KR" sz="2400" dirty="0">
                <a:solidFill>
                  <a:schemeClr val="bg1"/>
                </a:solidFill>
              </a:rPr>
              <a:t>: </a:t>
            </a:r>
            <a:r>
              <a:rPr lang="ko-KR" altLang="en-US" sz="2400" dirty="0">
                <a:solidFill>
                  <a:schemeClr val="bg1"/>
                </a:solidFill>
              </a:rPr>
              <a:t>증상에 따라 필요한 영양제 추천 로직</a:t>
            </a:r>
            <a:r>
              <a:rPr lang="en-US" altLang="ko-KR" sz="2400" dirty="0">
                <a:solidFill>
                  <a:schemeClr val="bg1"/>
                </a:solidFill>
              </a:rPr>
              <a:t> </a:t>
            </a:r>
            <a:r>
              <a:rPr lang="ko-KR" altLang="en-US" sz="2400" dirty="0">
                <a:solidFill>
                  <a:schemeClr val="bg1"/>
                </a:solidFill>
              </a:rPr>
              <a:t>구현</a:t>
            </a:r>
            <a:r>
              <a:rPr lang="en-US" altLang="ko-KR" sz="2400" dirty="0">
                <a:solidFill>
                  <a:schemeClr val="bg1"/>
                </a:solidFill>
              </a:rPr>
              <a:t>.</a:t>
            </a:r>
          </a:p>
          <a:p>
            <a:r>
              <a:rPr lang="en-US" altLang="ko-KR" sz="2400" dirty="0">
                <a:solidFill>
                  <a:schemeClr val="bg1"/>
                </a:solidFill>
              </a:rPr>
              <a:t>			           3</a:t>
            </a:r>
            <a:r>
              <a:rPr lang="ko-KR" altLang="en-US" sz="2400" dirty="0">
                <a:solidFill>
                  <a:schemeClr val="bg1"/>
                </a:solidFill>
              </a:rPr>
              <a:t>주차</a:t>
            </a:r>
            <a:r>
              <a:rPr lang="en-US" altLang="ko-KR" sz="2400" dirty="0">
                <a:solidFill>
                  <a:schemeClr val="bg1"/>
                </a:solidFill>
              </a:rPr>
              <a:t>: </a:t>
            </a:r>
            <a:r>
              <a:rPr lang="ko-KR" altLang="en-US" sz="2400" dirty="0">
                <a:solidFill>
                  <a:schemeClr val="bg1"/>
                </a:solidFill>
              </a:rPr>
              <a:t>심평원</a:t>
            </a:r>
            <a:r>
              <a:rPr lang="en-US" altLang="ko-KR" sz="2400" dirty="0">
                <a:solidFill>
                  <a:schemeClr val="bg1"/>
                </a:solidFill>
              </a:rPr>
              <a:t>/</a:t>
            </a:r>
            <a:r>
              <a:rPr lang="ko-KR" altLang="en-US" sz="2400" dirty="0" err="1">
                <a:solidFill>
                  <a:schemeClr val="bg1"/>
                </a:solidFill>
              </a:rPr>
              <a:t>식약처</a:t>
            </a:r>
            <a:r>
              <a:rPr lang="ko-KR" altLang="en-US" sz="2400" dirty="0">
                <a:solidFill>
                  <a:schemeClr val="bg1"/>
                </a:solidFill>
              </a:rPr>
              <a:t> </a:t>
            </a:r>
            <a:r>
              <a:rPr lang="en" altLang="ko-KR" sz="2400" dirty="0">
                <a:solidFill>
                  <a:schemeClr val="bg1"/>
                </a:solidFill>
              </a:rPr>
              <a:t>API </a:t>
            </a:r>
            <a:r>
              <a:rPr lang="ko-KR" altLang="en-US" sz="2400" dirty="0">
                <a:solidFill>
                  <a:schemeClr val="bg1"/>
                </a:solidFill>
              </a:rPr>
              <a:t>연동을 통해</a:t>
            </a:r>
            <a:r>
              <a:rPr lang="en-US" altLang="ko-KR" sz="2400" dirty="0">
                <a:solidFill>
                  <a:schemeClr val="bg1"/>
                </a:solidFill>
              </a:rPr>
              <a:t> </a:t>
            </a:r>
            <a:r>
              <a:rPr lang="ko-KR" altLang="en-US" sz="2400" dirty="0">
                <a:solidFill>
                  <a:schemeClr val="bg1"/>
                </a:solidFill>
              </a:rPr>
              <a:t>검토 로직 구현</a:t>
            </a:r>
            <a:endParaRPr lang="en-US" altLang="ko-KR" sz="2400" dirty="0">
              <a:solidFill>
                <a:schemeClr val="bg1"/>
              </a:solidFill>
            </a:endParaRPr>
          </a:p>
          <a:p>
            <a:r>
              <a:rPr lang="en-US" altLang="ko-KR" sz="2400" dirty="0">
                <a:solidFill>
                  <a:schemeClr val="bg1"/>
                </a:solidFill>
              </a:rPr>
              <a:t>					   4</a:t>
            </a:r>
            <a:r>
              <a:rPr lang="ko-KR" altLang="en-US" sz="2400" dirty="0">
                <a:solidFill>
                  <a:schemeClr val="bg1"/>
                </a:solidFill>
              </a:rPr>
              <a:t>주차</a:t>
            </a:r>
            <a:r>
              <a:rPr lang="en-US" altLang="ko-KR" sz="2400" dirty="0">
                <a:solidFill>
                  <a:schemeClr val="bg1"/>
                </a:solidFill>
              </a:rPr>
              <a:t>: </a:t>
            </a:r>
            <a:r>
              <a:rPr lang="en" altLang="ko-KR" sz="2400" dirty="0">
                <a:solidFill>
                  <a:schemeClr val="bg1"/>
                </a:solidFill>
              </a:rPr>
              <a:t>UI</a:t>
            </a:r>
            <a:r>
              <a:rPr lang="en-US" altLang="ko-KR" sz="2400" dirty="0">
                <a:solidFill>
                  <a:schemeClr val="bg1"/>
                </a:solidFill>
              </a:rPr>
              <a:t>(</a:t>
            </a:r>
            <a:r>
              <a:rPr lang="en-US" altLang="ko-KR" sz="2400" dirty="0" err="1">
                <a:solidFill>
                  <a:schemeClr val="bg1"/>
                </a:solidFill>
              </a:rPr>
              <a:t>streamlit</a:t>
            </a:r>
            <a:r>
              <a:rPr lang="en-US" altLang="ko-KR" sz="2400" dirty="0">
                <a:solidFill>
                  <a:schemeClr val="bg1"/>
                </a:solidFill>
              </a:rPr>
              <a:t>)</a:t>
            </a:r>
            <a:r>
              <a:rPr lang="en" altLang="ko-KR" sz="2400" dirty="0">
                <a:solidFill>
                  <a:schemeClr val="bg1"/>
                </a:solidFill>
              </a:rPr>
              <a:t>/UX </a:t>
            </a:r>
            <a:r>
              <a:rPr lang="ko-KR" altLang="en-US" sz="2400" dirty="0">
                <a:solidFill>
                  <a:schemeClr val="bg1"/>
                </a:solidFill>
              </a:rPr>
              <a:t>개발과 </a:t>
            </a:r>
            <a:r>
              <a:rPr lang="en-US" altLang="ko-KR" sz="2400" dirty="0">
                <a:solidFill>
                  <a:schemeClr val="bg1"/>
                </a:solidFill>
              </a:rPr>
              <a:t> </a:t>
            </a:r>
            <a:r>
              <a:rPr lang="ko-KR" altLang="en-US" sz="2400" dirty="0" err="1">
                <a:solidFill>
                  <a:schemeClr val="bg1"/>
                </a:solidFill>
              </a:rPr>
              <a:t>백엔드</a:t>
            </a:r>
            <a:r>
              <a:rPr lang="ko-KR" altLang="en-US" sz="2400" dirty="0">
                <a:solidFill>
                  <a:schemeClr val="bg1"/>
                </a:solidFill>
              </a:rPr>
              <a:t> 연동</a:t>
            </a:r>
            <a:endParaRPr lang="en-US" altLang="ko-KR" sz="2400" dirty="0">
              <a:solidFill>
                <a:schemeClr val="bg1"/>
              </a:solidFill>
            </a:endParaRPr>
          </a:p>
          <a:p>
            <a:r>
              <a:rPr lang="en-US" altLang="ko-KR" sz="2400" dirty="0">
                <a:solidFill>
                  <a:schemeClr val="bg1"/>
                </a:solidFill>
              </a:rPr>
              <a:t>									5</a:t>
            </a:r>
            <a:r>
              <a:rPr lang="ko-KR" altLang="en-US" sz="2400" dirty="0">
                <a:solidFill>
                  <a:schemeClr val="bg1"/>
                </a:solidFill>
              </a:rPr>
              <a:t>주차</a:t>
            </a:r>
            <a:r>
              <a:rPr lang="en-US" altLang="ko-KR" sz="2400" dirty="0">
                <a:solidFill>
                  <a:schemeClr val="bg1"/>
                </a:solidFill>
              </a:rPr>
              <a:t>: </a:t>
            </a:r>
            <a:r>
              <a:rPr lang="ko-KR" altLang="en-US" sz="2400" dirty="0">
                <a:solidFill>
                  <a:schemeClr val="bg1"/>
                </a:solidFill>
              </a:rPr>
              <a:t>수정 및 개선</a:t>
            </a:r>
            <a:endParaRPr lang="en-US" altLang="ko-KR" sz="2400" dirty="0">
              <a:solidFill>
                <a:schemeClr val="bg1"/>
              </a:solidFill>
            </a:endParaRPr>
          </a:p>
          <a:p>
            <a:r>
              <a:rPr lang="en-US" altLang="ko-KR" sz="2400" dirty="0">
                <a:solidFill>
                  <a:schemeClr val="bg1"/>
                </a:solidFill>
              </a:rPr>
              <a:t>								   	            6</a:t>
            </a:r>
            <a:r>
              <a:rPr lang="ko-KR" altLang="en-US" sz="2400" dirty="0">
                <a:solidFill>
                  <a:schemeClr val="bg1"/>
                </a:solidFill>
              </a:rPr>
              <a:t>주차</a:t>
            </a:r>
            <a:r>
              <a:rPr lang="en-US" altLang="ko-KR" sz="2400" dirty="0">
                <a:solidFill>
                  <a:schemeClr val="bg1"/>
                </a:solidFill>
              </a:rPr>
              <a:t>: </a:t>
            </a:r>
            <a:r>
              <a:rPr lang="ko-KR" altLang="en-US" sz="2400" dirty="0">
                <a:solidFill>
                  <a:schemeClr val="bg1"/>
                </a:solidFill>
              </a:rPr>
              <a:t>성능 최적화</a:t>
            </a:r>
            <a:endParaRPr kumimoji="1" lang="ko-KR" alt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B5BAC9A-EDC4-68FE-E88B-6CC9C4BB11C1}"/>
              </a:ext>
            </a:extLst>
          </p:cNvPr>
          <p:cNvSpPr txBox="1"/>
          <p:nvPr/>
        </p:nvSpPr>
        <p:spPr>
          <a:xfrm>
            <a:off x="2913320" y="3281639"/>
            <a:ext cx="942044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kumimoji="1" lang="en-US" altLang="ko-KR" dirty="0"/>
          </a:p>
          <a:p>
            <a:endParaRPr kumimoji="1" lang="en-US" altLang="ko-KR" dirty="0"/>
          </a:p>
          <a:p>
            <a:endParaRPr kumimoji="1" lang="en-US" altLang="ko-KR" dirty="0"/>
          </a:p>
          <a:p>
            <a:endParaRPr kumimoji="1" lang="en-US" altLang="ko-KR" dirty="0"/>
          </a:p>
          <a:p>
            <a:endParaRPr kumimoji="1" lang="en-US" altLang="ko-KR" dirty="0"/>
          </a:p>
          <a:p>
            <a:endParaRPr kumimoji="1" lang="en-US" altLang="ko-KR" dirty="0"/>
          </a:p>
          <a:p>
            <a:r>
              <a:rPr lang="en-US" altLang="ko-KR" dirty="0"/>
              <a:t>.</a:t>
            </a:r>
            <a:r>
              <a:rPr lang="ko-KR" altLang="en-US" dirty="0"/>
              <a:t> </a:t>
            </a:r>
          </a:p>
          <a:p>
            <a:endParaRPr kumimoji="1"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963BE7C-33B6-5F6A-C322-2EB57E900C90}"/>
              </a:ext>
            </a:extLst>
          </p:cNvPr>
          <p:cNvSpPr txBox="1"/>
          <p:nvPr/>
        </p:nvSpPr>
        <p:spPr>
          <a:xfrm>
            <a:off x="4827180" y="1950253"/>
            <a:ext cx="14885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4000" dirty="0"/>
              <a:t>Q &amp; A</a:t>
            </a:r>
            <a:endParaRPr kumimoji="1" lang="ko-KR" altLang="en-US" sz="4000" dirty="0"/>
          </a:p>
        </p:txBody>
      </p:sp>
    </p:spTree>
    <p:extLst>
      <p:ext uri="{BB962C8B-B14F-4D97-AF65-F5344CB8AC3E}">
        <p14:creationId xmlns:p14="http://schemas.microsoft.com/office/powerpoint/2010/main" val="37540003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182</TotalTime>
  <Words>819</Words>
  <Application>Microsoft Macintosh PowerPoint</Application>
  <PresentationFormat>와이드스크린</PresentationFormat>
  <Paragraphs>152</Paragraphs>
  <Slides>9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Arial</vt:lpstr>
      <vt:lpstr>Segoe UI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김준영</cp:lastModifiedBy>
  <cp:revision>6</cp:revision>
  <dcterms:created xsi:type="dcterms:W3CDTF">2025-11-02T09:22:12Z</dcterms:created>
  <dcterms:modified xsi:type="dcterms:W3CDTF">2025-11-03T12:23:55Z</dcterms:modified>
</cp:coreProperties>
</file>